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22"/>
  </p:notesMasterIdLst>
  <p:sldIdLst>
    <p:sldId id="256" r:id="rId2"/>
    <p:sldId id="261" r:id="rId3"/>
    <p:sldId id="271" r:id="rId4"/>
    <p:sldId id="297" r:id="rId5"/>
    <p:sldId id="298" r:id="rId6"/>
    <p:sldId id="299" r:id="rId7"/>
    <p:sldId id="300" r:id="rId8"/>
    <p:sldId id="294" r:id="rId9"/>
    <p:sldId id="295" r:id="rId10"/>
    <p:sldId id="260" r:id="rId11"/>
    <p:sldId id="287" r:id="rId12"/>
    <p:sldId id="268" r:id="rId13"/>
    <p:sldId id="262" r:id="rId14"/>
    <p:sldId id="258" r:id="rId15"/>
    <p:sldId id="296" r:id="rId16"/>
    <p:sldId id="267" r:id="rId17"/>
    <p:sldId id="289" r:id="rId18"/>
    <p:sldId id="301" r:id="rId19"/>
    <p:sldId id="302" r:id="rId20"/>
    <p:sldId id="259" r:id="rId21"/>
  </p:sldIdLst>
  <p:sldSz cx="9144000" cy="5143500" type="screen16x9"/>
  <p:notesSz cx="6858000" cy="9144000"/>
  <p:embeddedFontLst>
    <p:embeddedFont>
      <p:font typeface="Archivo" panose="020B0604020202020204" charset="0"/>
      <p:regular r:id="rId23"/>
      <p:bold r:id="rId24"/>
      <p:italic r:id="rId25"/>
      <p:boldItalic r:id="rId26"/>
    </p:embeddedFont>
    <p:embeddedFont>
      <p:font typeface="IBM Plex Mono" panose="020B0509050203000203" pitchFamily="49" charset="0"/>
      <p:regular r:id="rId27"/>
      <p:bold r:id="rId28"/>
      <p:italic r:id="rId29"/>
      <p:boldItalic r:id="rId30"/>
    </p:embeddedFont>
    <p:embeddedFont>
      <p:font typeface="Mangal" panose="02040503050203030202" pitchFamily="18" charset="0"/>
      <p:regular r:id="rId31"/>
      <p:bold r:id="rId32"/>
    </p:embeddedFont>
    <p:embeddedFont>
      <p:font typeface="Nunito Light" pitchFamily="2"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08591D-1878-4B8D-B985-39927D5BD9AF}" v="28" dt="2026-08-15T07:47:00.963"/>
  </p1510:revLst>
</p1510:revInfo>
</file>

<file path=ppt/tableStyles.xml><?xml version="1.0" encoding="utf-8"?>
<a:tblStyleLst xmlns:a="http://schemas.openxmlformats.org/drawingml/2006/main" def="{C2EB4085-C4CA-460A-986B-058A8E27C805}">
  <a:tblStyle styleId="{C2EB4085-C4CA-460A-986B-058A8E27C80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0EECA99-BD5E-4410-91FC-E7E7DC76D57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astya Singh" userId="657c7a2772a972de" providerId="LiveId" clId="{8BA6A108-D51D-4F8E-BFB2-19194DA7E541}"/>
    <pc:docChg chg="undo custSel addSld modSld sldOrd">
      <pc:chgData name="Agastya Singh" userId="657c7a2772a972de" providerId="LiveId" clId="{8BA6A108-D51D-4F8E-BFB2-19194DA7E541}" dt="2026-08-15T07:48:30.674" v="164" actId="22"/>
      <pc:docMkLst>
        <pc:docMk/>
      </pc:docMkLst>
      <pc:sldChg chg="addSp mod">
        <pc:chgData name="Agastya Singh" userId="657c7a2772a972de" providerId="LiveId" clId="{8BA6A108-D51D-4F8E-BFB2-19194DA7E541}" dt="2026-08-15T07:48:24" v="162" actId="22"/>
        <pc:sldMkLst>
          <pc:docMk/>
          <pc:sldMk cId="0" sldId="267"/>
        </pc:sldMkLst>
        <pc:picChg chg="add">
          <ac:chgData name="Agastya Singh" userId="657c7a2772a972de" providerId="LiveId" clId="{8BA6A108-D51D-4F8E-BFB2-19194DA7E541}" dt="2026-08-15T07:48:24" v="162" actId="22"/>
          <ac:picMkLst>
            <pc:docMk/>
            <pc:sldMk cId="0" sldId="267"/>
            <ac:picMk id="3" creationId="{92F29D3D-2D57-F3C0-638A-4C40832F2767}"/>
          </ac:picMkLst>
        </pc:picChg>
      </pc:sldChg>
      <pc:sldChg chg="modSp mod ord">
        <pc:chgData name="Agastya Singh" userId="657c7a2772a972de" providerId="LiveId" clId="{8BA6A108-D51D-4F8E-BFB2-19194DA7E541}" dt="2026-08-15T07:46:25.437" v="146" actId="1076"/>
        <pc:sldMkLst>
          <pc:docMk/>
          <pc:sldMk cId="403604478" sldId="294"/>
        </pc:sldMkLst>
        <pc:spChg chg="mod">
          <ac:chgData name="Agastya Singh" userId="657c7a2772a972de" providerId="LiveId" clId="{8BA6A108-D51D-4F8E-BFB2-19194DA7E541}" dt="2026-08-15T07:46:25.437" v="146" actId="1076"/>
          <ac:spMkLst>
            <pc:docMk/>
            <pc:sldMk cId="403604478" sldId="294"/>
            <ac:spMk id="2" creationId="{1F84FE0D-DAA3-9455-79B8-1EF2D521A525}"/>
          </ac:spMkLst>
        </pc:spChg>
      </pc:sldChg>
      <pc:sldChg chg="addSp delSp modSp mod">
        <pc:chgData name="Agastya Singh" userId="657c7a2772a972de" providerId="LiveId" clId="{8BA6A108-D51D-4F8E-BFB2-19194DA7E541}" dt="2026-08-15T07:47:55.940" v="161" actId="255"/>
        <pc:sldMkLst>
          <pc:docMk/>
          <pc:sldMk cId="2345987422" sldId="295"/>
        </pc:sldMkLst>
        <pc:spChg chg="del">
          <ac:chgData name="Agastya Singh" userId="657c7a2772a972de" providerId="LiveId" clId="{8BA6A108-D51D-4F8E-BFB2-19194DA7E541}" dt="2026-08-15T07:47:19.944" v="155" actId="478"/>
          <ac:spMkLst>
            <pc:docMk/>
            <pc:sldMk cId="2345987422" sldId="295"/>
            <ac:spMk id="2" creationId="{33698232-6B33-1B6F-40ED-7739CD9E29A0}"/>
          </ac:spMkLst>
        </pc:spChg>
        <pc:spChg chg="mod">
          <ac:chgData name="Agastya Singh" userId="657c7a2772a972de" providerId="LiveId" clId="{8BA6A108-D51D-4F8E-BFB2-19194DA7E541}" dt="2026-08-15T07:47:26.573" v="157" actId="1076"/>
          <ac:spMkLst>
            <pc:docMk/>
            <pc:sldMk cId="2345987422" sldId="295"/>
            <ac:spMk id="3" creationId="{416A8FED-9557-07B7-51AA-8ECD4D43A28C}"/>
          </ac:spMkLst>
        </pc:spChg>
        <pc:spChg chg="add mod">
          <ac:chgData name="Agastya Singh" userId="657c7a2772a972de" providerId="LiveId" clId="{8BA6A108-D51D-4F8E-BFB2-19194DA7E541}" dt="2026-08-15T07:47:55.940" v="161" actId="255"/>
          <ac:spMkLst>
            <pc:docMk/>
            <pc:sldMk cId="2345987422" sldId="295"/>
            <ac:spMk id="4" creationId="{1DF5EDB3-B4A6-B8BC-4C67-B6F523EF5BF9}"/>
          </ac:spMkLst>
        </pc:spChg>
        <pc:spChg chg="mod">
          <ac:chgData name="Agastya Singh" userId="657c7a2772a972de" providerId="LiveId" clId="{8BA6A108-D51D-4F8E-BFB2-19194DA7E541}" dt="2026-08-15T07:47:29.431" v="158" actId="1076"/>
          <ac:spMkLst>
            <pc:docMk/>
            <pc:sldMk cId="2345987422" sldId="295"/>
            <ac:spMk id="5" creationId="{769C4899-93E3-62B0-184B-7D893CAF4F17}"/>
          </ac:spMkLst>
        </pc:spChg>
        <pc:spChg chg="add del mod">
          <ac:chgData name="Agastya Singh" userId="657c7a2772a972de" providerId="LiveId" clId="{8BA6A108-D51D-4F8E-BFB2-19194DA7E541}" dt="2026-08-15T07:47:21.403" v="156" actId="478"/>
          <ac:spMkLst>
            <pc:docMk/>
            <pc:sldMk cId="2345987422" sldId="295"/>
            <ac:spMk id="8" creationId="{DD955D79-9D23-3232-88C8-39BA6D73D7BC}"/>
          </ac:spMkLst>
        </pc:spChg>
      </pc:sldChg>
      <pc:sldChg chg="addSp delSp modSp add mod">
        <pc:chgData name="Agastya Singh" userId="657c7a2772a972de" providerId="LiveId" clId="{8BA6A108-D51D-4F8E-BFB2-19194DA7E541}" dt="2026-08-13T07:04:34.979" v="25" actId="122"/>
        <pc:sldMkLst>
          <pc:docMk/>
          <pc:sldMk cId="3541789100" sldId="297"/>
        </pc:sldMkLst>
        <pc:graphicFrameChg chg="add mod modGraphic">
          <ac:chgData name="Agastya Singh" userId="657c7a2772a972de" providerId="LiveId" clId="{8BA6A108-D51D-4F8E-BFB2-19194DA7E541}" dt="2026-08-13T07:04:34.979" v="25" actId="122"/>
          <ac:graphicFrameMkLst>
            <pc:docMk/>
            <pc:sldMk cId="3541789100" sldId="297"/>
            <ac:graphicFrameMk id="8" creationId="{D294AFA1-16FC-7365-FC3D-A634789FEAAD}"/>
          </ac:graphicFrameMkLst>
        </pc:graphicFrameChg>
      </pc:sldChg>
      <pc:sldChg chg="addSp delSp modSp add mod">
        <pc:chgData name="Agastya Singh" userId="657c7a2772a972de" providerId="LiveId" clId="{8BA6A108-D51D-4F8E-BFB2-19194DA7E541}" dt="2026-08-15T07:02:56.649" v="70" actId="1076"/>
        <pc:sldMkLst>
          <pc:docMk/>
          <pc:sldMk cId="3213369676" sldId="298"/>
        </pc:sldMkLst>
        <pc:spChg chg="mod">
          <ac:chgData name="Agastya Singh" userId="657c7a2772a972de" providerId="LiveId" clId="{8BA6A108-D51D-4F8E-BFB2-19194DA7E541}" dt="2026-08-15T07:02:56.649" v="70" actId="1076"/>
          <ac:spMkLst>
            <pc:docMk/>
            <pc:sldMk cId="3213369676" sldId="298"/>
            <ac:spMk id="2" creationId="{BB4226DE-D83D-0310-094A-1E0AA8E73F0A}"/>
          </ac:spMkLst>
        </pc:spChg>
        <pc:graphicFrameChg chg="add mod modGraphic">
          <ac:chgData name="Agastya Singh" userId="657c7a2772a972de" providerId="LiveId" clId="{8BA6A108-D51D-4F8E-BFB2-19194DA7E541}" dt="2026-08-15T07:02:53.156" v="69" actId="1076"/>
          <ac:graphicFrameMkLst>
            <pc:docMk/>
            <pc:sldMk cId="3213369676" sldId="298"/>
            <ac:graphicFrameMk id="3" creationId="{B913F164-27C8-CCA9-0938-343C7A86410E}"/>
          </ac:graphicFrameMkLst>
        </pc:graphicFrameChg>
      </pc:sldChg>
      <pc:sldChg chg="addSp delSp modSp add mod ord">
        <pc:chgData name="Agastya Singh" userId="657c7a2772a972de" providerId="LiveId" clId="{8BA6A108-D51D-4F8E-BFB2-19194DA7E541}" dt="2026-08-15T07:41:01.681" v="108"/>
        <pc:sldMkLst>
          <pc:docMk/>
          <pc:sldMk cId="172956888" sldId="299"/>
        </pc:sldMkLst>
        <pc:graphicFrameChg chg="add mod modGraphic">
          <ac:chgData name="Agastya Singh" userId="657c7a2772a972de" providerId="LiveId" clId="{8BA6A108-D51D-4F8E-BFB2-19194DA7E541}" dt="2026-08-15T07:39:14.250" v="92" actId="1076"/>
          <ac:graphicFrameMkLst>
            <pc:docMk/>
            <pc:sldMk cId="172956888" sldId="299"/>
            <ac:graphicFrameMk id="2" creationId="{B1B6CE0B-5091-4327-74BF-A944AFB2C754}"/>
          </ac:graphicFrameMkLst>
        </pc:graphicFrameChg>
        <pc:graphicFrameChg chg="del">
          <ac:chgData name="Agastya Singh" userId="657c7a2772a972de" providerId="LiveId" clId="{8BA6A108-D51D-4F8E-BFB2-19194DA7E541}" dt="2026-08-15T07:15:00.994" v="74" actId="478"/>
          <ac:graphicFrameMkLst>
            <pc:docMk/>
            <pc:sldMk cId="172956888" sldId="299"/>
            <ac:graphicFrameMk id="6" creationId="{E5AFDE30-059C-543A-D6B0-B305B2B3571C}"/>
          </ac:graphicFrameMkLst>
        </pc:graphicFrameChg>
        <pc:picChg chg="mod">
          <ac:chgData name="Agastya Singh" userId="657c7a2772a972de" providerId="LiveId" clId="{8BA6A108-D51D-4F8E-BFB2-19194DA7E541}" dt="2026-08-15T07:39:09.728" v="91" actId="1076"/>
          <ac:picMkLst>
            <pc:docMk/>
            <pc:sldMk cId="172956888" sldId="299"/>
            <ac:picMk id="3" creationId="{1DDD1CE3-4F3F-44E3-86EA-C13935D3B295}"/>
          </ac:picMkLst>
        </pc:picChg>
      </pc:sldChg>
      <pc:sldChg chg="addSp delSp modSp add mod ord">
        <pc:chgData name="Agastya Singh" userId="657c7a2772a972de" providerId="LiveId" clId="{8BA6A108-D51D-4F8E-BFB2-19194DA7E541}" dt="2026-08-15T07:41:11.087" v="110"/>
        <pc:sldMkLst>
          <pc:docMk/>
          <pc:sldMk cId="3612756410" sldId="300"/>
        </pc:sldMkLst>
        <pc:graphicFrameChg chg="del">
          <ac:chgData name="Agastya Singh" userId="657c7a2772a972de" providerId="LiveId" clId="{8BA6A108-D51D-4F8E-BFB2-19194DA7E541}" dt="2026-08-15T07:39:29.979" v="94" actId="478"/>
          <ac:graphicFrameMkLst>
            <pc:docMk/>
            <pc:sldMk cId="3612756410" sldId="300"/>
            <ac:graphicFrameMk id="2" creationId="{735F3C43-9072-553C-FC5B-BEB4B0857DAE}"/>
          </ac:graphicFrameMkLst>
        </pc:graphicFrameChg>
        <pc:graphicFrameChg chg="add mod modGraphic">
          <ac:chgData name="Agastya Singh" userId="657c7a2772a972de" providerId="LiveId" clId="{8BA6A108-D51D-4F8E-BFB2-19194DA7E541}" dt="2026-08-15T07:40:34.082" v="102" actId="1076"/>
          <ac:graphicFrameMkLst>
            <pc:docMk/>
            <pc:sldMk cId="3612756410" sldId="300"/>
            <ac:graphicFrameMk id="4" creationId="{5020D518-F6B9-7C1E-65AA-A79F543449A4}"/>
          </ac:graphicFrameMkLst>
        </pc:graphicFrameChg>
      </pc:sldChg>
      <pc:sldChg chg="addSp modSp add mod ord">
        <pc:chgData name="Agastya Singh" userId="657c7a2772a972de" providerId="LiveId" clId="{8BA6A108-D51D-4F8E-BFB2-19194DA7E541}" dt="2026-08-15T07:48:27.413" v="163" actId="22"/>
        <pc:sldMkLst>
          <pc:docMk/>
          <pc:sldMk cId="3601414072" sldId="301"/>
        </pc:sldMkLst>
        <pc:spChg chg="mod">
          <ac:chgData name="Agastya Singh" userId="657c7a2772a972de" providerId="LiveId" clId="{8BA6A108-D51D-4F8E-BFB2-19194DA7E541}" dt="2026-08-15T07:41:49.875" v="127" actId="20577"/>
          <ac:spMkLst>
            <pc:docMk/>
            <pc:sldMk cId="3601414072" sldId="301"/>
            <ac:spMk id="533" creationId="{8A7C7333-B459-4128-1DB5-FD756B8CEC7E}"/>
          </ac:spMkLst>
        </pc:spChg>
        <pc:picChg chg="add">
          <ac:chgData name="Agastya Singh" userId="657c7a2772a972de" providerId="LiveId" clId="{8BA6A108-D51D-4F8E-BFB2-19194DA7E541}" dt="2026-08-15T07:48:27.413" v="163" actId="22"/>
          <ac:picMkLst>
            <pc:docMk/>
            <pc:sldMk cId="3601414072" sldId="301"/>
            <ac:picMk id="3" creationId="{362E0F56-C566-4561-4A47-6D155DA20EAB}"/>
          </ac:picMkLst>
        </pc:picChg>
      </pc:sldChg>
      <pc:sldChg chg="addSp delSp modSp add mod ord">
        <pc:chgData name="Agastya Singh" userId="657c7a2772a972de" providerId="LiveId" clId="{8BA6A108-D51D-4F8E-BFB2-19194DA7E541}" dt="2026-08-15T07:48:30.674" v="164" actId="22"/>
        <pc:sldMkLst>
          <pc:docMk/>
          <pc:sldMk cId="1751167747" sldId="302"/>
        </pc:sldMkLst>
        <pc:spChg chg="del">
          <ac:chgData name="Agastya Singh" userId="657c7a2772a972de" providerId="LiveId" clId="{8BA6A108-D51D-4F8E-BFB2-19194DA7E541}" dt="2026-08-15T07:43:27.035" v="131" actId="478"/>
          <ac:spMkLst>
            <pc:docMk/>
            <pc:sldMk cId="1751167747" sldId="302"/>
            <ac:spMk id="4" creationId="{0E7F3CEF-46EB-A3C9-03DE-1DAC7D5EBE08}"/>
          </ac:spMkLst>
        </pc:spChg>
        <pc:spChg chg="del">
          <ac:chgData name="Agastya Singh" userId="657c7a2772a972de" providerId="LiveId" clId="{8BA6A108-D51D-4F8E-BFB2-19194DA7E541}" dt="2026-08-15T07:43:27.035" v="131" actId="478"/>
          <ac:spMkLst>
            <pc:docMk/>
            <pc:sldMk cId="1751167747" sldId="302"/>
            <ac:spMk id="10" creationId="{3FCE85E7-95EF-C754-12FF-7672A8F7B249}"/>
          </ac:spMkLst>
        </pc:spChg>
        <pc:spChg chg="del">
          <ac:chgData name="Agastya Singh" userId="657c7a2772a972de" providerId="LiveId" clId="{8BA6A108-D51D-4F8E-BFB2-19194DA7E541}" dt="2026-08-15T07:43:27.035" v="131" actId="478"/>
          <ac:spMkLst>
            <pc:docMk/>
            <pc:sldMk cId="1751167747" sldId="302"/>
            <ac:spMk id="12" creationId="{1DCF828F-6E05-92A7-2A8E-E11666BC4950}"/>
          </ac:spMkLst>
        </pc:spChg>
        <pc:spChg chg="del">
          <ac:chgData name="Agastya Singh" userId="657c7a2772a972de" providerId="LiveId" clId="{8BA6A108-D51D-4F8E-BFB2-19194DA7E541}" dt="2026-08-15T07:43:27.035" v="131" actId="478"/>
          <ac:spMkLst>
            <pc:docMk/>
            <pc:sldMk cId="1751167747" sldId="302"/>
            <ac:spMk id="16" creationId="{313D22AC-3543-3099-3520-9E116535D545}"/>
          </ac:spMkLst>
        </pc:spChg>
        <pc:spChg chg="del">
          <ac:chgData name="Agastya Singh" userId="657c7a2772a972de" providerId="LiveId" clId="{8BA6A108-D51D-4F8E-BFB2-19194DA7E541}" dt="2026-08-15T07:43:27.035" v="131" actId="478"/>
          <ac:spMkLst>
            <pc:docMk/>
            <pc:sldMk cId="1751167747" sldId="302"/>
            <ac:spMk id="18" creationId="{C6C92FF9-41B8-9F09-3870-0C23E7FE0B40}"/>
          </ac:spMkLst>
        </pc:spChg>
        <pc:spChg chg="del">
          <ac:chgData name="Agastya Singh" userId="657c7a2772a972de" providerId="LiveId" clId="{8BA6A108-D51D-4F8E-BFB2-19194DA7E541}" dt="2026-08-15T07:43:27.035" v="131" actId="478"/>
          <ac:spMkLst>
            <pc:docMk/>
            <pc:sldMk cId="1751167747" sldId="302"/>
            <ac:spMk id="37" creationId="{33D03845-5C7A-D4A5-D43D-3D719E38BF09}"/>
          </ac:spMkLst>
        </pc:spChg>
        <pc:spChg chg="del">
          <ac:chgData name="Agastya Singh" userId="657c7a2772a972de" providerId="LiveId" clId="{8BA6A108-D51D-4F8E-BFB2-19194DA7E541}" dt="2026-08-15T07:43:27.035" v="131" actId="478"/>
          <ac:spMkLst>
            <pc:docMk/>
            <pc:sldMk cId="1751167747" sldId="302"/>
            <ac:spMk id="55" creationId="{9DB301BA-0364-F78C-F627-3C2003B15D7E}"/>
          </ac:spMkLst>
        </pc:spChg>
        <pc:spChg chg="del">
          <ac:chgData name="Agastya Singh" userId="657c7a2772a972de" providerId="LiveId" clId="{8BA6A108-D51D-4F8E-BFB2-19194DA7E541}" dt="2026-08-15T07:43:27.035" v="131" actId="478"/>
          <ac:spMkLst>
            <pc:docMk/>
            <pc:sldMk cId="1751167747" sldId="302"/>
            <ac:spMk id="62" creationId="{19EB036D-E37F-185B-BB10-2EDD9557BBC5}"/>
          </ac:spMkLst>
        </pc:spChg>
        <pc:spChg chg="del">
          <ac:chgData name="Agastya Singh" userId="657c7a2772a972de" providerId="LiveId" clId="{8BA6A108-D51D-4F8E-BFB2-19194DA7E541}" dt="2026-08-15T07:43:27.035" v="131" actId="478"/>
          <ac:spMkLst>
            <pc:docMk/>
            <pc:sldMk cId="1751167747" sldId="302"/>
            <ac:spMk id="922" creationId="{295AB660-2558-49F6-D5AF-41EE2D571C08}"/>
          </ac:spMkLst>
        </pc:spChg>
        <pc:spChg chg="del">
          <ac:chgData name="Agastya Singh" userId="657c7a2772a972de" providerId="LiveId" clId="{8BA6A108-D51D-4F8E-BFB2-19194DA7E541}" dt="2026-08-15T07:43:27.035" v="131" actId="478"/>
          <ac:spMkLst>
            <pc:docMk/>
            <pc:sldMk cId="1751167747" sldId="302"/>
            <ac:spMk id="928" creationId="{6E9CAD90-020C-3ABC-EAE4-00832B9A2CA6}"/>
          </ac:spMkLst>
        </pc:spChg>
        <pc:picChg chg="add mod">
          <ac:chgData name="Agastya Singh" userId="657c7a2772a972de" providerId="LiveId" clId="{8BA6A108-D51D-4F8E-BFB2-19194DA7E541}" dt="2026-08-15T07:43:48.961" v="140" actId="14100"/>
          <ac:picMkLst>
            <pc:docMk/>
            <pc:sldMk cId="1751167747" sldId="302"/>
            <ac:picMk id="6" creationId="{656F6989-0580-8C3A-9ADC-95A03DD3A322}"/>
          </ac:picMkLst>
        </pc:picChg>
        <pc:picChg chg="add">
          <ac:chgData name="Agastya Singh" userId="657c7a2772a972de" providerId="LiveId" clId="{8BA6A108-D51D-4F8E-BFB2-19194DA7E541}" dt="2026-08-15T07:48:30.674" v="164" actId="22"/>
          <ac:picMkLst>
            <pc:docMk/>
            <pc:sldMk cId="1751167747" sldId="302"/>
            <ac:picMk id="8" creationId="{9E180D7B-A758-5CEA-201C-5375CBAFA5A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92a81341b2_2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292a81341b2_2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292a81341b2_3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292a81341b2_3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09E67C52-FEC2-DA7F-98C2-276690BC6792}"/>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F720548C-5133-2149-34A4-5A3ADFA1D7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92581b7e23_0_92:notes">
            <a:extLst>
              <a:ext uri="{FF2B5EF4-FFF2-40B4-BE49-F238E27FC236}">
                <a16:creationId xmlns:a16="http://schemas.microsoft.com/office/drawing/2014/main" id="{2D9BB5DE-B1F5-FC71-2E43-7D90268032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0326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33408D75-8D6D-EEC0-F79D-E8FF4EE6E827}"/>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AC787E40-EBF0-4B70-B333-9AB6AB306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92581b7e23_0_92:notes">
            <a:extLst>
              <a:ext uri="{FF2B5EF4-FFF2-40B4-BE49-F238E27FC236}">
                <a16:creationId xmlns:a16="http://schemas.microsoft.com/office/drawing/2014/main" id="{FC1951B8-1BF4-F781-A3A5-5BC2F107D5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6871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92581b7e23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92581b7e23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933ed14694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933ed14694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92a81341b2_3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292a81341b2_3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92a81341b2_2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92a81341b2_2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92581b7e23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92581b7e23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a:extLst>
            <a:ext uri="{FF2B5EF4-FFF2-40B4-BE49-F238E27FC236}">
              <a16:creationId xmlns:a16="http://schemas.microsoft.com/office/drawing/2014/main" id="{9658B35C-AA51-16A4-CEF6-BBD38EB583DD}"/>
            </a:ext>
          </a:extLst>
        </p:cNvPr>
        <p:cNvGrpSpPr/>
        <p:nvPr/>
      </p:nvGrpSpPr>
      <p:grpSpPr>
        <a:xfrm>
          <a:off x="0" y="0"/>
          <a:ext cx="0" cy="0"/>
          <a:chOff x="0" y="0"/>
          <a:chExt cx="0" cy="0"/>
        </a:xfrm>
      </p:grpSpPr>
      <p:sp>
        <p:nvSpPr>
          <p:cNvPr id="405" name="Google Shape;405;g292581b7e23_0_108:notes">
            <a:extLst>
              <a:ext uri="{FF2B5EF4-FFF2-40B4-BE49-F238E27FC236}">
                <a16:creationId xmlns:a16="http://schemas.microsoft.com/office/drawing/2014/main" id="{18BC001D-04C3-B7D2-7180-4DA7349A72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92581b7e23_0_108:notes">
            <a:extLst>
              <a:ext uri="{FF2B5EF4-FFF2-40B4-BE49-F238E27FC236}">
                <a16:creationId xmlns:a16="http://schemas.microsoft.com/office/drawing/2014/main" id="{08C96980-67D9-ACD1-DCAF-0769FFDE6D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6168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292581b7e23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292581b7e23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933ed14694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933ed14694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CECEB7E9-4624-0594-56E5-25EF63F99A13}"/>
            </a:ext>
          </a:extLst>
        </p:cNvPr>
        <p:cNvGrpSpPr/>
        <p:nvPr/>
      </p:nvGrpSpPr>
      <p:grpSpPr>
        <a:xfrm>
          <a:off x="0" y="0"/>
          <a:ext cx="0" cy="0"/>
          <a:chOff x="0" y="0"/>
          <a:chExt cx="0" cy="0"/>
        </a:xfrm>
      </p:grpSpPr>
      <p:sp>
        <p:nvSpPr>
          <p:cNvPr id="526" name="Google Shape;526;g292581b7e23_0_256:notes">
            <a:extLst>
              <a:ext uri="{FF2B5EF4-FFF2-40B4-BE49-F238E27FC236}">
                <a16:creationId xmlns:a16="http://schemas.microsoft.com/office/drawing/2014/main" id="{6A7F7967-8041-24C9-1EBB-93A427B3FC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292581b7e23_0_256:notes">
            <a:extLst>
              <a:ext uri="{FF2B5EF4-FFF2-40B4-BE49-F238E27FC236}">
                <a16:creationId xmlns:a16="http://schemas.microsoft.com/office/drawing/2014/main" id="{ADA98DC8-48DF-CE45-771D-7BC46DB398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1547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a:extLst>
            <a:ext uri="{FF2B5EF4-FFF2-40B4-BE49-F238E27FC236}">
              <a16:creationId xmlns:a16="http://schemas.microsoft.com/office/drawing/2014/main" id="{6A6053BF-529B-61C5-A865-7496E3E926E8}"/>
            </a:ext>
          </a:extLst>
        </p:cNvPr>
        <p:cNvGrpSpPr/>
        <p:nvPr/>
      </p:nvGrpSpPr>
      <p:grpSpPr>
        <a:xfrm>
          <a:off x="0" y="0"/>
          <a:ext cx="0" cy="0"/>
          <a:chOff x="0" y="0"/>
          <a:chExt cx="0" cy="0"/>
        </a:xfrm>
      </p:grpSpPr>
      <p:sp>
        <p:nvSpPr>
          <p:cNvPr id="893" name="Google Shape;893;g2933ed14694_0_293:notes">
            <a:extLst>
              <a:ext uri="{FF2B5EF4-FFF2-40B4-BE49-F238E27FC236}">
                <a16:creationId xmlns:a16="http://schemas.microsoft.com/office/drawing/2014/main" id="{4D25CFE5-0D10-103C-88FF-5D722CD7A5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933ed14694_0_293:notes">
            <a:extLst>
              <a:ext uri="{FF2B5EF4-FFF2-40B4-BE49-F238E27FC236}">
                <a16:creationId xmlns:a16="http://schemas.microsoft.com/office/drawing/2014/main" id="{5DFD7934-1EDB-45D5-3919-FE156C8601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1184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92a81341b2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92a81341b2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 name="Google Shape;10;p2"/>
          <p:cNvSpPr txBox="1">
            <a:spLocks noGrp="1"/>
          </p:cNvSpPr>
          <p:nvPr>
            <p:ph type="ctrTitle"/>
          </p:nvPr>
        </p:nvSpPr>
        <p:spPr>
          <a:xfrm>
            <a:off x="1234950" y="1398100"/>
            <a:ext cx="6486900" cy="15606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4572000" y="3461550"/>
            <a:ext cx="2947500" cy="390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268674" y="-322162"/>
            <a:ext cx="9371984" cy="3960713"/>
            <a:chOff x="-268674" y="-322162"/>
            <a:chExt cx="9371984" cy="3960713"/>
          </a:xfrm>
        </p:grpSpPr>
        <p:grpSp>
          <p:nvGrpSpPr>
            <p:cNvPr id="13" name="Google Shape;13;p2"/>
            <p:cNvGrpSpPr/>
            <p:nvPr/>
          </p:nvGrpSpPr>
          <p:grpSpPr>
            <a:xfrm>
              <a:off x="225762" y="151638"/>
              <a:ext cx="8692477" cy="1388125"/>
              <a:chOff x="225762" y="151638"/>
              <a:chExt cx="8692477" cy="1388125"/>
            </a:xfrm>
          </p:grpSpPr>
          <p:pic>
            <p:nvPicPr>
              <p:cNvPr id="14" name="Google Shape;14;p2"/>
              <p:cNvPicPr preferRelativeResize="0"/>
              <p:nvPr/>
            </p:nvPicPr>
            <p:blipFill>
              <a:blip r:embed="rId2">
                <a:alphaModFix/>
              </a:blip>
              <a:stretch>
                <a:fillRect/>
              </a:stretch>
            </p:blipFill>
            <p:spPr>
              <a:xfrm rot="10800000">
                <a:off x="6955037" y="151638"/>
                <a:ext cx="1963202" cy="1388125"/>
              </a:xfrm>
              <a:prstGeom prst="rect">
                <a:avLst/>
              </a:prstGeom>
              <a:noFill/>
              <a:ln>
                <a:noFill/>
              </a:ln>
            </p:spPr>
          </p:pic>
          <p:pic>
            <p:nvPicPr>
              <p:cNvPr id="15" name="Google Shape;15;p2"/>
              <p:cNvPicPr preferRelativeResize="0"/>
              <p:nvPr/>
            </p:nvPicPr>
            <p:blipFill>
              <a:blip r:embed="rId2">
                <a:alphaModFix/>
              </a:blip>
              <a:stretch>
                <a:fillRect/>
              </a:stretch>
            </p:blipFill>
            <p:spPr>
              <a:xfrm rot="10800000" flipH="1">
                <a:off x="225762" y="151638"/>
                <a:ext cx="1963202" cy="1388125"/>
              </a:xfrm>
              <a:prstGeom prst="rect">
                <a:avLst/>
              </a:prstGeom>
              <a:noFill/>
              <a:ln>
                <a:noFill/>
              </a:ln>
            </p:spPr>
          </p:pic>
        </p:grpSp>
        <p:pic>
          <p:nvPicPr>
            <p:cNvPr id="16" name="Google Shape;16;p2"/>
            <p:cNvPicPr preferRelativeResize="0"/>
            <p:nvPr/>
          </p:nvPicPr>
          <p:blipFill>
            <a:blip r:embed="rId3">
              <a:alphaModFix/>
            </a:blip>
            <a:stretch>
              <a:fillRect/>
            </a:stretch>
          </p:blipFill>
          <p:spPr>
            <a:xfrm rot="5400000">
              <a:off x="7371875" y="1504250"/>
              <a:ext cx="2700599" cy="506600"/>
            </a:xfrm>
            <a:prstGeom prst="rect">
              <a:avLst/>
            </a:prstGeom>
            <a:noFill/>
            <a:ln>
              <a:noFill/>
            </a:ln>
          </p:spPr>
        </p:pic>
        <p:pic>
          <p:nvPicPr>
            <p:cNvPr id="17" name="Google Shape;17;p2"/>
            <p:cNvPicPr preferRelativeResize="0"/>
            <p:nvPr/>
          </p:nvPicPr>
          <p:blipFill rotWithShape="1">
            <a:blip r:embed="rId4">
              <a:alphaModFix/>
            </a:blip>
            <a:srcRect t="53278"/>
            <a:stretch/>
          </p:blipFill>
          <p:spPr>
            <a:xfrm rot="10800000">
              <a:off x="-268674" y="2723000"/>
              <a:ext cx="1861925" cy="915551"/>
            </a:xfrm>
            <a:prstGeom prst="rect">
              <a:avLst/>
            </a:prstGeom>
            <a:noFill/>
            <a:ln>
              <a:noFill/>
            </a:ln>
          </p:spPr>
        </p:pic>
        <p:pic>
          <p:nvPicPr>
            <p:cNvPr id="18" name="Google Shape;18;p2"/>
            <p:cNvPicPr preferRelativeResize="0"/>
            <p:nvPr/>
          </p:nvPicPr>
          <p:blipFill>
            <a:blip r:embed="rId4">
              <a:alphaModFix/>
            </a:blip>
            <a:stretch>
              <a:fillRect/>
            </a:stretch>
          </p:blipFill>
          <p:spPr>
            <a:xfrm rot="-5400000">
              <a:off x="7192572" y="-370975"/>
              <a:ext cx="1861925" cy="195954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1" name="Google Shape;21;p3"/>
          <p:cNvSpPr txBox="1">
            <a:spLocks noGrp="1"/>
          </p:cNvSpPr>
          <p:nvPr>
            <p:ph type="title"/>
          </p:nvPr>
        </p:nvSpPr>
        <p:spPr>
          <a:xfrm>
            <a:off x="1902336" y="2352475"/>
            <a:ext cx="5067600" cy="1047000"/>
          </a:xfrm>
          <a:prstGeom prst="rect">
            <a:avLst/>
          </a:prstGeom>
          <a:solidFill>
            <a:schemeClr val="lt1"/>
          </a:solidFill>
        </p:spPr>
        <p:txBody>
          <a:bodyPr spcFirstLastPara="1" wrap="square" lIns="91425" tIns="91425" rIns="91425" bIns="91425" anchor="b" anchorCtr="0">
            <a:noAutofit/>
          </a:bodyPr>
          <a:lstStyle>
            <a:lvl1pPr lvl="0">
              <a:lnSpc>
                <a:spcPct val="115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Clr>
                <a:schemeClr val="lt1"/>
              </a:buClr>
              <a:buSzPts val="6000"/>
              <a:buNone/>
              <a:defRPr sz="6000">
                <a:solidFill>
                  <a:schemeClr val="accent3"/>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 name="Google Shape;23;p3"/>
          <p:cNvSpPr txBox="1">
            <a:spLocks noGrp="1"/>
          </p:cNvSpPr>
          <p:nvPr>
            <p:ph type="subTitle" idx="1"/>
          </p:nvPr>
        </p:nvSpPr>
        <p:spPr>
          <a:xfrm>
            <a:off x="1902324" y="3344388"/>
            <a:ext cx="5067600" cy="3750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6" name="Google Shape;2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4"/>
          <p:cNvSpPr txBox="1">
            <a:spLocks noGrp="1"/>
          </p:cNvSpPr>
          <p:nvPr>
            <p:ph type="body" idx="1"/>
          </p:nvPr>
        </p:nvSpPr>
        <p:spPr>
          <a:xfrm>
            <a:off x="720000" y="1063350"/>
            <a:ext cx="7704000" cy="336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28" name="Google Shape;28;p4"/>
          <p:cNvGrpSpPr/>
          <p:nvPr/>
        </p:nvGrpSpPr>
        <p:grpSpPr>
          <a:xfrm>
            <a:off x="117372" y="1337863"/>
            <a:ext cx="8848827" cy="2467774"/>
            <a:chOff x="117372" y="1337863"/>
            <a:chExt cx="8848827" cy="2467774"/>
          </a:xfrm>
        </p:grpSpPr>
        <p:pic>
          <p:nvPicPr>
            <p:cNvPr id="29" name="Google Shape;29;p4"/>
            <p:cNvPicPr preferRelativeResize="0"/>
            <p:nvPr/>
          </p:nvPicPr>
          <p:blipFill rotWithShape="1">
            <a:blip r:embed="rId2">
              <a:alphaModFix/>
            </a:blip>
            <a:srcRect b="23112"/>
            <a:stretch/>
          </p:blipFill>
          <p:spPr>
            <a:xfrm rot="-5400000">
              <a:off x="7499961" y="2339387"/>
              <a:ext cx="2467751" cy="464725"/>
            </a:xfrm>
            <a:prstGeom prst="rect">
              <a:avLst/>
            </a:prstGeom>
            <a:noFill/>
            <a:ln>
              <a:noFill/>
            </a:ln>
          </p:spPr>
        </p:pic>
        <p:pic>
          <p:nvPicPr>
            <p:cNvPr id="30" name="Google Shape;30;p4"/>
            <p:cNvPicPr preferRelativeResize="0"/>
            <p:nvPr/>
          </p:nvPicPr>
          <p:blipFill>
            <a:blip r:embed="rId3">
              <a:alphaModFix/>
            </a:blip>
            <a:stretch>
              <a:fillRect/>
            </a:stretch>
          </p:blipFill>
          <p:spPr>
            <a:xfrm rot="5400000">
              <a:off x="-885049" y="2340284"/>
              <a:ext cx="2467774" cy="462933"/>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46" name="Google Shape;4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7" name="Google Shape;47;p6"/>
          <p:cNvGrpSpPr/>
          <p:nvPr/>
        </p:nvGrpSpPr>
        <p:grpSpPr>
          <a:xfrm>
            <a:off x="-539705" y="-195092"/>
            <a:ext cx="9784805" cy="5424242"/>
            <a:chOff x="-539705" y="-195092"/>
            <a:chExt cx="9784805" cy="5424242"/>
          </a:xfrm>
        </p:grpSpPr>
        <p:grpSp>
          <p:nvGrpSpPr>
            <p:cNvPr id="48" name="Google Shape;48;p6"/>
            <p:cNvGrpSpPr/>
            <p:nvPr/>
          </p:nvGrpSpPr>
          <p:grpSpPr>
            <a:xfrm rot="899960">
              <a:off x="-340854" y="-99825"/>
              <a:ext cx="955046" cy="1662400"/>
              <a:chOff x="-191200" y="-67425"/>
              <a:chExt cx="955075" cy="1662450"/>
            </a:xfrm>
          </p:grpSpPr>
          <p:cxnSp>
            <p:nvCxnSpPr>
              <p:cNvPr id="49" name="Google Shape;49;p6"/>
              <p:cNvCxnSpPr/>
              <p:nvPr/>
            </p:nvCxnSpPr>
            <p:spPr>
              <a:xfrm flipH="1">
                <a:off x="331275" y="-67425"/>
                <a:ext cx="432600" cy="685200"/>
              </a:xfrm>
              <a:prstGeom prst="straightConnector1">
                <a:avLst/>
              </a:prstGeom>
              <a:noFill/>
              <a:ln w="9525" cap="flat" cmpd="sng">
                <a:solidFill>
                  <a:schemeClr val="dk2"/>
                </a:solidFill>
                <a:prstDash val="solid"/>
                <a:round/>
                <a:headEnd type="none" w="med" len="med"/>
                <a:tailEnd type="oval" w="med" len="med"/>
              </a:ln>
            </p:spPr>
          </p:cxnSp>
          <p:cxnSp>
            <p:nvCxnSpPr>
              <p:cNvPr id="50" name="Google Shape;50;p6"/>
              <p:cNvCxnSpPr/>
              <p:nvPr/>
            </p:nvCxnSpPr>
            <p:spPr>
              <a:xfrm flipH="1">
                <a:off x="-191200" y="247125"/>
                <a:ext cx="865200" cy="1347900"/>
              </a:xfrm>
              <a:prstGeom prst="straightConnector1">
                <a:avLst/>
              </a:prstGeom>
              <a:noFill/>
              <a:ln w="9525" cap="flat" cmpd="sng">
                <a:solidFill>
                  <a:schemeClr val="accent1"/>
                </a:solidFill>
                <a:prstDash val="solid"/>
                <a:round/>
                <a:headEnd type="oval" w="med" len="med"/>
                <a:tailEnd type="none" w="med" len="med"/>
              </a:ln>
            </p:spPr>
          </p:cxnSp>
        </p:grpSp>
        <p:sp>
          <p:nvSpPr>
            <p:cNvPr id="51" name="Google Shape;51;p6"/>
            <p:cNvSpPr/>
            <p:nvPr/>
          </p:nvSpPr>
          <p:spPr>
            <a:xfrm>
              <a:off x="3881150" y="3437425"/>
              <a:ext cx="5363950" cy="1438325"/>
            </a:xfrm>
            <a:custGeom>
              <a:avLst/>
              <a:gdLst/>
              <a:ahLst/>
              <a:cxnLst/>
              <a:rect l="l" t="t" r="r" b="b"/>
              <a:pathLst>
                <a:path w="214558" h="57533" extrusionOk="0">
                  <a:moveTo>
                    <a:pt x="214558" y="0"/>
                  </a:moveTo>
                  <a:lnTo>
                    <a:pt x="192990" y="29881"/>
                  </a:lnTo>
                  <a:lnTo>
                    <a:pt x="192990" y="53696"/>
                  </a:lnTo>
                  <a:lnTo>
                    <a:pt x="172545" y="53696"/>
                  </a:lnTo>
                  <a:lnTo>
                    <a:pt x="170330" y="57533"/>
                  </a:lnTo>
                  <a:lnTo>
                    <a:pt x="143563" y="57533"/>
                  </a:lnTo>
                  <a:lnTo>
                    <a:pt x="140409" y="54379"/>
                  </a:lnTo>
                  <a:lnTo>
                    <a:pt x="99977" y="54379"/>
                  </a:lnTo>
                  <a:lnTo>
                    <a:pt x="0" y="54379"/>
                  </a:lnTo>
                </a:path>
              </a:pathLst>
            </a:custGeom>
            <a:noFill/>
            <a:ln w="9525" cap="flat" cmpd="sng">
              <a:solidFill>
                <a:schemeClr val="dk2"/>
              </a:solidFill>
              <a:prstDash val="solid"/>
              <a:round/>
              <a:headEnd type="none" w="med" len="med"/>
              <a:tailEnd type="oval" w="med" len="med"/>
            </a:ln>
          </p:spPr>
        </p:sp>
        <p:sp>
          <p:nvSpPr>
            <p:cNvPr id="52" name="Google Shape;52;p6"/>
            <p:cNvSpPr/>
            <p:nvPr/>
          </p:nvSpPr>
          <p:spPr>
            <a:xfrm>
              <a:off x="3785650" y="4684225"/>
              <a:ext cx="1984050" cy="544925"/>
            </a:xfrm>
            <a:custGeom>
              <a:avLst/>
              <a:gdLst/>
              <a:ahLst/>
              <a:cxnLst/>
              <a:rect l="l" t="t" r="r" b="b"/>
              <a:pathLst>
                <a:path w="79362" h="21797" extrusionOk="0">
                  <a:moveTo>
                    <a:pt x="0" y="21797"/>
                  </a:moveTo>
                  <a:lnTo>
                    <a:pt x="15952" y="2476"/>
                  </a:lnTo>
                  <a:lnTo>
                    <a:pt x="30106" y="2476"/>
                  </a:lnTo>
                  <a:lnTo>
                    <a:pt x="36284" y="8654"/>
                  </a:lnTo>
                  <a:lnTo>
                    <a:pt x="74366" y="8654"/>
                  </a:lnTo>
                  <a:lnTo>
                    <a:pt x="79362" y="0"/>
                  </a:lnTo>
                </a:path>
              </a:pathLst>
            </a:custGeom>
            <a:noFill/>
            <a:ln w="9525" cap="flat" cmpd="sng">
              <a:solidFill>
                <a:schemeClr val="dk2"/>
              </a:solidFill>
              <a:prstDash val="solid"/>
              <a:round/>
              <a:headEnd type="none" w="med" len="med"/>
              <a:tailEnd type="oval" w="med" len="med"/>
            </a:ln>
          </p:spPr>
        </p:sp>
        <p:cxnSp>
          <p:nvCxnSpPr>
            <p:cNvPr id="53" name="Google Shape;53;p6"/>
            <p:cNvCxnSpPr/>
            <p:nvPr/>
          </p:nvCxnSpPr>
          <p:spPr>
            <a:xfrm>
              <a:off x="8599175" y="4156375"/>
              <a:ext cx="0" cy="1067100"/>
            </a:xfrm>
            <a:prstGeom prst="straightConnector1">
              <a:avLst/>
            </a:prstGeom>
            <a:noFill/>
            <a:ln w="9525" cap="flat" cmpd="sng">
              <a:solidFill>
                <a:schemeClr val="accent1"/>
              </a:solidFill>
              <a:prstDash val="solid"/>
              <a:round/>
              <a:headEnd type="oval" w="med" len="med"/>
              <a:tailEnd type="none" w="med" len="med"/>
            </a:ln>
          </p:spPr>
        </p:cxnSp>
      </p:grpSp>
      <p:pic>
        <p:nvPicPr>
          <p:cNvPr id="54" name="Google Shape;54;p6"/>
          <p:cNvPicPr preferRelativeResize="0"/>
          <p:nvPr/>
        </p:nvPicPr>
        <p:blipFill>
          <a:blip r:embed="rId2">
            <a:alphaModFix/>
          </a:blip>
          <a:stretch>
            <a:fillRect/>
          </a:stretch>
        </p:blipFill>
        <p:spPr>
          <a:xfrm>
            <a:off x="8024899" y="4658424"/>
            <a:ext cx="456876" cy="2429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Google Shape;56;p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57" name="Google Shape;57;p7"/>
          <p:cNvSpPr txBox="1">
            <a:spLocks noGrp="1"/>
          </p:cNvSpPr>
          <p:nvPr>
            <p:ph type="title"/>
          </p:nvPr>
        </p:nvSpPr>
        <p:spPr>
          <a:xfrm>
            <a:off x="720000" y="794275"/>
            <a:ext cx="4855200" cy="977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 name="Google Shape;58;p7"/>
          <p:cNvSpPr txBox="1">
            <a:spLocks noGrp="1"/>
          </p:cNvSpPr>
          <p:nvPr>
            <p:ph type="subTitle" idx="1"/>
          </p:nvPr>
        </p:nvSpPr>
        <p:spPr>
          <a:xfrm>
            <a:off x="720000" y="1986050"/>
            <a:ext cx="4855200" cy="2020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grpSp>
        <p:nvGrpSpPr>
          <p:cNvPr id="59" name="Google Shape;59;p7"/>
          <p:cNvGrpSpPr/>
          <p:nvPr/>
        </p:nvGrpSpPr>
        <p:grpSpPr>
          <a:xfrm>
            <a:off x="182702" y="-234952"/>
            <a:ext cx="9024798" cy="5339105"/>
            <a:chOff x="182702" y="-234952"/>
            <a:chExt cx="9024798" cy="5339105"/>
          </a:xfrm>
        </p:grpSpPr>
        <p:pic>
          <p:nvPicPr>
            <p:cNvPr id="60" name="Google Shape;60;p7"/>
            <p:cNvPicPr preferRelativeResize="0"/>
            <p:nvPr/>
          </p:nvPicPr>
          <p:blipFill>
            <a:blip r:embed="rId2">
              <a:alphaModFix/>
            </a:blip>
            <a:stretch>
              <a:fillRect/>
            </a:stretch>
          </p:blipFill>
          <p:spPr>
            <a:xfrm rot="-5400000">
              <a:off x="7298613" y="-283715"/>
              <a:ext cx="1860124" cy="1957650"/>
            </a:xfrm>
            <a:prstGeom prst="rect">
              <a:avLst/>
            </a:prstGeom>
            <a:noFill/>
            <a:ln>
              <a:noFill/>
            </a:ln>
          </p:spPr>
        </p:pic>
        <p:grpSp>
          <p:nvGrpSpPr>
            <p:cNvPr id="61" name="Google Shape;61;p7"/>
            <p:cNvGrpSpPr/>
            <p:nvPr/>
          </p:nvGrpSpPr>
          <p:grpSpPr>
            <a:xfrm>
              <a:off x="182702" y="4549372"/>
              <a:ext cx="1318665" cy="554781"/>
              <a:chOff x="184150" y="4403675"/>
              <a:chExt cx="1412300" cy="594175"/>
            </a:xfrm>
          </p:grpSpPr>
          <p:pic>
            <p:nvPicPr>
              <p:cNvPr id="62" name="Google Shape;62;p7"/>
              <p:cNvPicPr preferRelativeResize="0"/>
              <p:nvPr/>
            </p:nvPicPr>
            <p:blipFill rotWithShape="1">
              <a:blip r:embed="rId3">
                <a:alphaModFix/>
              </a:blip>
              <a:srcRect r="51777"/>
              <a:stretch/>
            </p:blipFill>
            <p:spPr>
              <a:xfrm rot="10800000">
                <a:off x="184150" y="4534925"/>
                <a:ext cx="1190051" cy="462925"/>
              </a:xfrm>
              <a:prstGeom prst="rect">
                <a:avLst/>
              </a:prstGeom>
              <a:noFill/>
              <a:ln>
                <a:noFill/>
              </a:ln>
            </p:spPr>
          </p:pic>
          <p:pic>
            <p:nvPicPr>
              <p:cNvPr id="63" name="Google Shape;63;p7"/>
              <p:cNvPicPr preferRelativeResize="0"/>
              <p:nvPr/>
            </p:nvPicPr>
            <p:blipFill rotWithShape="1">
              <a:blip r:embed="rId3">
                <a:alphaModFix/>
              </a:blip>
              <a:srcRect t="-2240" r="42772" b="2230"/>
              <a:stretch/>
            </p:blipFill>
            <p:spPr>
              <a:xfrm rot="10800000">
                <a:off x="184151" y="4403675"/>
                <a:ext cx="1412299" cy="462950"/>
              </a:xfrm>
              <a:prstGeom prst="rect">
                <a:avLst/>
              </a:prstGeom>
              <a:noFill/>
              <a:ln>
                <a:noFill/>
              </a:ln>
            </p:spPr>
          </p:pic>
        </p:grpSp>
      </p:grpSp>
      <p:pic>
        <p:nvPicPr>
          <p:cNvPr id="64" name="Google Shape;64;p7"/>
          <p:cNvPicPr preferRelativeResize="0"/>
          <p:nvPr/>
        </p:nvPicPr>
        <p:blipFill rotWithShape="1">
          <a:blip r:embed="rId4">
            <a:alphaModFix/>
          </a:blip>
          <a:srcRect l="1942" b="8692"/>
          <a:stretch/>
        </p:blipFill>
        <p:spPr>
          <a:xfrm flipH="1">
            <a:off x="5295899" y="3831200"/>
            <a:ext cx="3854451" cy="13123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
        <p:cNvGrpSpPr/>
        <p:nvPr/>
      </p:nvGrpSpPr>
      <p:grpSpPr>
        <a:xfrm>
          <a:off x="0" y="0"/>
          <a:ext cx="0" cy="0"/>
          <a:chOff x="0" y="0"/>
          <a:chExt cx="0" cy="0"/>
        </a:xfrm>
      </p:grpSpPr>
      <p:sp>
        <p:nvSpPr>
          <p:cNvPr id="66" name="Google Shape;66;p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67" name="Google Shape;67;p8"/>
          <p:cNvGrpSpPr/>
          <p:nvPr/>
        </p:nvGrpSpPr>
        <p:grpSpPr>
          <a:xfrm>
            <a:off x="182700" y="151649"/>
            <a:ext cx="8778600" cy="4853775"/>
            <a:chOff x="182700" y="151649"/>
            <a:chExt cx="8778600" cy="4853775"/>
          </a:xfrm>
        </p:grpSpPr>
        <p:pic>
          <p:nvPicPr>
            <p:cNvPr id="68" name="Google Shape;68;p8"/>
            <p:cNvPicPr preferRelativeResize="0"/>
            <p:nvPr/>
          </p:nvPicPr>
          <p:blipFill>
            <a:blip r:embed="rId2">
              <a:alphaModFix/>
            </a:blip>
            <a:stretch>
              <a:fillRect/>
            </a:stretch>
          </p:blipFill>
          <p:spPr>
            <a:xfrm>
              <a:off x="7232175" y="4603999"/>
              <a:ext cx="1729125" cy="401425"/>
            </a:xfrm>
            <a:prstGeom prst="rect">
              <a:avLst/>
            </a:prstGeom>
            <a:noFill/>
            <a:ln>
              <a:noFill/>
            </a:ln>
          </p:spPr>
        </p:pic>
        <p:pic>
          <p:nvPicPr>
            <p:cNvPr id="69" name="Google Shape;69;p8"/>
            <p:cNvPicPr preferRelativeResize="0"/>
            <p:nvPr/>
          </p:nvPicPr>
          <p:blipFill>
            <a:blip r:embed="rId2">
              <a:alphaModFix/>
            </a:blip>
            <a:stretch>
              <a:fillRect/>
            </a:stretch>
          </p:blipFill>
          <p:spPr>
            <a:xfrm>
              <a:off x="182700" y="151649"/>
              <a:ext cx="1729125" cy="401425"/>
            </a:xfrm>
            <a:prstGeom prst="rect">
              <a:avLst/>
            </a:prstGeom>
            <a:noFill/>
            <a:ln>
              <a:noFill/>
            </a:ln>
          </p:spPr>
        </p:pic>
      </p:grpSp>
      <p:sp>
        <p:nvSpPr>
          <p:cNvPr id="70" name="Google Shape;70;p8"/>
          <p:cNvSpPr txBox="1">
            <a:spLocks noGrp="1"/>
          </p:cNvSpPr>
          <p:nvPr>
            <p:ph type="title"/>
          </p:nvPr>
        </p:nvSpPr>
        <p:spPr>
          <a:xfrm>
            <a:off x="2298600" y="1619250"/>
            <a:ext cx="4546800" cy="1849500"/>
          </a:xfrm>
          <a:prstGeom prst="rect">
            <a:avLst/>
          </a:prstGeom>
          <a:solidFill>
            <a:schemeClr val="lt1"/>
          </a:solidFill>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5000">
                <a:solidFill>
                  <a:schemeClr val="accent2"/>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1"/>
        <p:cNvGrpSpPr/>
        <p:nvPr/>
      </p:nvGrpSpPr>
      <p:grpSpPr>
        <a:xfrm>
          <a:off x="0" y="0"/>
          <a:ext cx="0" cy="0"/>
          <a:chOff x="0" y="0"/>
          <a:chExt cx="0" cy="0"/>
        </a:xfrm>
      </p:grpSpPr>
      <p:sp>
        <p:nvSpPr>
          <p:cNvPr id="72" name="Google Shape;72;p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73" name="Google Shape;73;p9"/>
          <p:cNvSpPr txBox="1">
            <a:spLocks noGrp="1"/>
          </p:cNvSpPr>
          <p:nvPr>
            <p:ph type="title"/>
          </p:nvPr>
        </p:nvSpPr>
        <p:spPr>
          <a:xfrm>
            <a:off x="2135550" y="1522704"/>
            <a:ext cx="4872900" cy="1501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800"/>
              <a:buNone/>
              <a:defRPr sz="86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4" name="Google Shape;74;p9"/>
          <p:cNvSpPr txBox="1">
            <a:spLocks noGrp="1"/>
          </p:cNvSpPr>
          <p:nvPr>
            <p:ph type="subTitle" idx="1"/>
          </p:nvPr>
        </p:nvSpPr>
        <p:spPr>
          <a:xfrm>
            <a:off x="2135550" y="2842638"/>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8"/>
        <p:cNvGrpSpPr/>
        <p:nvPr/>
      </p:nvGrpSpPr>
      <p:grpSpPr>
        <a:xfrm>
          <a:off x="0" y="0"/>
          <a:ext cx="0" cy="0"/>
          <a:chOff x="0" y="0"/>
          <a:chExt cx="0" cy="0"/>
        </a:xfrm>
      </p:grpSpPr>
      <p:sp>
        <p:nvSpPr>
          <p:cNvPr id="79" name="Google Shape;79;p11"/>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80" name="Google Shape;80;p11"/>
          <p:cNvSpPr txBox="1">
            <a:spLocks noGrp="1"/>
          </p:cNvSpPr>
          <p:nvPr>
            <p:ph type="title" hasCustomPrompt="1"/>
          </p:nvPr>
        </p:nvSpPr>
        <p:spPr>
          <a:xfrm>
            <a:off x="1826675" y="1685025"/>
            <a:ext cx="5493000" cy="1477200"/>
          </a:xfrm>
          <a:prstGeom prst="rect">
            <a:avLst/>
          </a:prstGeom>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algn="ctr">
              <a:spcBef>
                <a:spcPts val="0"/>
              </a:spcBef>
              <a:spcAft>
                <a:spcPts val="0"/>
              </a:spcAft>
              <a:buSzPts val="9600"/>
              <a:buNone/>
              <a:defRPr sz="7400">
                <a:solidFill>
                  <a:schemeClr val="accent3"/>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1" name="Google Shape;81;p11"/>
          <p:cNvSpPr txBox="1">
            <a:spLocks noGrp="1"/>
          </p:cNvSpPr>
          <p:nvPr>
            <p:ph type="subTitle" idx="1"/>
          </p:nvPr>
        </p:nvSpPr>
        <p:spPr>
          <a:xfrm>
            <a:off x="1826525" y="3238775"/>
            <a:ext cx="5493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3"/>
        <p:cNvGrpSpPr/>
        <p:nvPr/>
      </p:nvGrpSpPr>
      <p:grpSpPr>
        <a:xfrm>
          <a:off x="0" y="0"/>
          <a:ext cx="0" cy="0"/>
          <a:chOff x="0" y="0"/>
          <a:chExt cx="0" cy="0"/>
        </a:xfrm>
      </p:grpSpPr>
      <p:sp>
        <p:nvSpPr>
          <p:cNvPr id="84" name="Google Shape;84;p1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85" name="Google Shape;8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 name="Google Shape;86;p13"/>
          <p:cNvSpPr txBox="1">
            <a:spLocks noGrp="1"/>
          </p:cNvSpPr>
          <p:nvPr>
            <p:ph type="subTitle" idx="1"/>
          </p:nvPr>
        </p:nvSpPr>
        <p:spPr>
          <a:xfrm>
            <a:off x="7200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3"/>
          <p:cNvSpPr txBox="1">
            <a:spLocks noGrp="1"/>
          </p:cNvSpPr>
          <p:nvPr>
            <p:ph type="subTitle" idx="2"/>
          </p:nvPr>
        </p:nvSpPr>
        <p:spPr>
          <a:xfrm>
            <a:off x="42149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8" name="Google Shape;88;p13"/>
          <p:cNvSpPr txBox="1">
            <a:spLocks noGrp="1"/>
          </p:cNvSpPr>
          <p:nvPr>
            <p:ph type="subTitle" idx="3"/>
          </p:nvPr>
        </p:nvSpPr>
        <p:spPr>
          <a:xfrm>
            <a:off x="7200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4"/>
          </p:nvPr>
        </p:nvSpPr>
        <p:spPr>
          <a:xfrm>
            <a:off x="42149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title" idx="5" hasCustomPrompt="1"/>
          </p:nvPr>
        </p:nvSpPr>
        <p:spPr>
          <a:xfrm>
            <a:off x="821600"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title" idx="6" hasCustomPrompt="1"/>
          </p:nvPr>
        </p:nvSpPr>
        <p:spPr>
          <a:xfrm>
            <a:off x="821600"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title" idx="7" hasCustomPrompt="1"/>
          </p:nvPr>
        </p:nvSpPr>
        <p:spPr>
          <a:xfrm>
            <a:off x="4316491"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8" hasCustomPrompt="1"/>
          </p:nvPr>
        </p:nvSpPr>
        <p:spPr>
          <a:xfrm>
            <a:off x="4316491"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9"/>
          </p:nvPr>
        </p:nvSpPr>
        <p:spPr>
          <a:xfrm>
            <a:off x="720000"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5" name="Google Shape;95;p13"/>
          <p:cNvSpPr txBox="1">
            <a:spLocks noGrp="1"/>
          </p:cNvSpPr>
          <p:nvPr>
            <p:ph type="subTitle" idx="13"/>
          </p:nvPr>
        </p:nvSpPr>
        <p:spPr>
          <a:xfrm>
            <a:off x="4214891"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6" name="Google Shape;96;p13"/>
          <p:cNvSpPr txBox="1">
            <a:spLocks noGrp="1"/>
          </p:cNvSpPr>
          <p:nvPr>
            <p:ph type="subTitle" idx="14"/>
          </p:nvPr>
        </p:nvSpPr>
        <p:spPr>
          <a:xfrm>
            <a:off x="720000"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7" name="Google Shape;97;p13"/>
          <p:cNvSpPr txBox="1">
            <a:spLocks noGrp="1"/>
          </p:cNvSpPr>
          <p:nvPr>
            <p:ph type="subTitle" idx="15"/>
          </p:nvPr>
        </p:nvSpPr>
        <p:spPr>
          <a:xfrm>
            <a:off x="4214891"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98" name="Google Shape;98;p13"/>
          <p:cNvGrpSpPr/>
          <p:nvPr/>
        </p:nvGrpSpPr>
        <p:grpSpPr>
          <a:xfrm>
            <a:off x="875350" y="127038"/>
            <a:ext cx="8033701" cy="4846535"/>
            <a:chOff x="875350" y="127038"/>
            <a:chExt cx="8033701" cy="4846535"/>
          </a:xfrm>
        </p:grpSpPr>
        <p:pic>
          <p:nvPicPr>
            <p:cNvPr id="99" name="Google Shape;99;p13"/>
            <p:cNvPicPr preferRelativeResize="0"/>
            <p:nvPr/>
          </p:nvPicPr>
          <p:blipFill>
            <a:blip r:embed="rId2">
              <a:alphaModFix/>
            </a:blip>
            <a:stretch>
              <a:fillRect/>
            </a:stretch>
          </p:blipFill>
          <p:spPr>
            <a:xfrm>
              <a:off x="7262350" y="4591273"/>
              <a:ext cx="1646700" cy="382300"/>
            </a:xfrm>
            <a:prstGeom prst="rect">
              <a:avLst/>
            </a:prstGeom>
            <a:noFill/>
            <a:ln>
              <a:noFill/>
            </a:ln>
          </p:spPr>
        </p:pic>
        <p:pic>
          <p:nvPicPr>
            <p:cNvPr id="100" name="Google Shape;100;p13"/>
            <p:cNvPicPr preferRelativeResize="0"/>
            <p:nvPr/>
          </p:nvPicPr>
          <p:blipFill>
            <a:blip r:embed="rId2">
              <a:alphaModFix/>
            </a:blip>
            <a:stretch>
              <a:fillRect/>
            </a:stretch>
          </p:blipFill>
          <p:spPr>
            <a:xfrm rot="10800000">
              <a:off x="875350" y="127038"/>
              <a:ext cx="797312" cy="185100"/>
            </a:xfrm>
            <a:prstGeom prst="rect">
              <a:avLst/>
            </a:prstGeom>
            <a:noFill/>
            <a:ln>
              <a:noFill/>
            </a:ln>
          </p:spPr>
        </p:pic>
      </p:grpSp>
      <p:grpSp>
        <p:nvGrpSpPr>
          <p:cNvPr id="101" name="Google Shape;101;p13"/>
          <p:cNvGrpSpPr/>
          <p:nvPr/>
        </p:nvGrpSpPr>
        <p:grpSpPr>
          <a:xfrm>
            <a:off x="-989124" y="-114101"/>
            <a:ext cx="9926867" cy="5390476"/>
            <a:chOff x="-989124" y="-114101"/>
            <a:chExt cx="9926867" cy="5390476"/>
          </a:xfrm>
        </p:grpSpPr>
        <p:pic>
          <p:nvPicPr>
            <p:cNvPr id="102" name="Google Shape;102;p13"/>
            <p:cNvPicPr preferRelativeResize="0"/>
            <p:nvPr/>
          </p:nvPicPr>
          <p:blipFill>
            <a:blip r:embed="rId3">
              <a:alphaModFix/>
            </a:blip>
            <a:stretch>
              <a:fillRect/>
            </a:stretch>
          </p:blipFill>
          <p:spPr>
            <a:xfrm rot="-5400000" flipH="1">
              <a:off x="7472389" y="3811021"/>
              <a:ext cx="2467774" cy="462933"/>
            </a:xfrm>
            <a:prstGeom prst="rect">
              <a:avLst/>
            </a:prstGeom>
            <a:noFill/>
            <a:ln>
              <a:noFill/>
            </a:ln>
          </p:spPr>
        </p:pic>
        <p:pic>
          <p:nvPicPr>
            <p:cNvPr id="103" name="Google Shape;103;p13"/>
            <p:cNvPicPr preferRelativeResize="0"/>
            <p:nvPr/>
          </p:nvPicPr>
          <p:blipFill>
            <a:blip r:embed="rId4">
              <a:alphaModFix/>
            </a:blip>
            <a:stretch>
              <a:fillRect/>
            </a:stretch>
          </p:blipFill>
          <p:spPr>
            <a:xfrm flipH="1">
              <a:off x="-989124" y="-114101"/>
              <a:ext cx="2123360" cy="667375"/>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04"/>
        <p:cNvGrpSpPr/>
        <p:nvPr/>
      </p:nvGrpSpPr>
      <p:grpSpPr>
        <a:xfrm>
          <a:off x="0" y="0"/>
          <a:ext cx="0" cy="0"/>
          <a:chOff x="0" y="0"/>
          <a:chExt cx="0" cy="0"/>
        </a:xfrm>
      </p:grpSpPr>
      <p:sp>
        <p:nvSpPr>
          <p:cNvPr id="105" name="Google Shape;105;p1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6" name="Google Shape;106;p14"/>
          <p:cNvSpPr txBox="1">
            <a:spLocks noGrp="1"/>
          </p:cNvSpPr>
          <p:nvPr>
            <p:ph type="title"/>
          </p:nvPr>
        </p:nvSpPr>
        <p:spPr>
          <a:xfrm>
            <a:off x="2133775" y="3054750"/>
            <a:ext cx="6297000" cy="6618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7" name="Google Shape;107;p14"/>
          <p:cNvSpPr txBox="1">
            <a:spLocks noGrp="1"/>
          </p:cNvSpPr>
          <p:nvPr>
            <p:ph type="subTitle" idx="1"/>
          </p:nvPr>
        </p:nvSpPr>
        <p:spPr>
          <a:xfrm>
            <a:off x="2133600" y="1426950"/>
            <a:ext cx="6297000" cy="162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6">
  <p:cSld name="CUSTOM_10_1_1_1_1_1">
    <p:spTree>
      <p:nvGrpSpPr>
        <p:cNvPr id="1" name="Shape 170"/>
        <p:cNvGrpSpPr/>
        <p:nvPr/>
      </p:nvGrpSpPr>
      <p:grpSpPr>
        <a:xfrm>
          <a:off x="0" y="0"/>
          <a:ext cx="0" cy="0"/>
          <a:chOff x="0" y="0"/>
          <a:chExt cx="0" cy="0"/>
        </a:xfrm>
      </p:grpSpPr>
      <p:sp>
        <p:nvSpPr>
          <p:cNvPr id="171" name="Google Shape;171;p21"/>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72" name="Google Shape;17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73" name="Google Shape;173;p21"/>
          <p:cNvGrpSpPr/>
          <p:nvPr/>
        </p:nvGrpSpPr>
        <p:grpSpPr>
          <a:xfrm>
            <a:off x="7570826" y="2571749"/>
            <a:ext cx="1421424" cy="2420015"/>
            <a:chOff x="7570826" y="2571749"/>
            <a:chExt cx="1421424" cy="2420015"/>
          </a:xfrm>
        </p:grpSpPr>
        <p:pic>
          <p:nvPicPr>
            <p:cNvPr id="174" name="Google Shape;174;p21"/>
            <p:cNvPicPr preferRelativeResize="0"/>
            <p:nvPr/>
          </p:nvPicPr>
          <p:blipFill>
            <a:blip r:embed="rId2">
              <a:alphaModFix/>
            </a:blip>
            <a:stretch>
              <a:fillRect/>
            </a:stretch>
          </p:blipFill>
          <p:spPr>
            <a:xfrm rot="-5400000">
              <a:off x="7602537" y="3437762"/>
              <a:ext cx="2255726" cy="523700"/>
            </a:xfrm>
            <a:prstGeom prst="rect">
              <a:avLst/>
            </a:prstGeom>
            <a:noFill/>
            <a:ln>
              <a:noFill/>
            </a:ln>
          </p:spPr>
        </p:pic>
        <p:pic>
          <p:nvPicPr>
            <p:cNvPr id="175" name="Google Shape;175;p21"/>
            <p:cNvPicPr preferRelativeResize="0"/>
            <p:nvPr/>
          </p:nvPicPr>
          <p:blipFill>
            <a:blip r:embed="rId3">
              <a:alphaModFix/>
            </a:blip>
            <a:stretch>
              <a:fillRect/>
            </a:stretch>
          </p:blipFill>
          <p:spPr>
            <a:xfrm rot="-5400000">
              <a:off x="7283287" y="3316100"/>
              <a:ext cx="1963202" cy="1388124"/>
            </a:xfrm>
            <a:prstGeom prst="rect">
              <a:avLst/>
            </a:prstGeom>
            <a:noFill/>
            <a:ln>
              <a:noFill/>
            </a:ln>
          </p:spPr>
        </p:pic>
      </p:grpSp>
      <p:pic>
        <p:nvPicPr>
          <p:cNvPr id="176" name="Google Shape;176;p21"/>
          <p:cNvPicPr preferRelativeResize="0"/>
          <p:nvPr/>
        </p:nvPicPr>
        <p:blipFill rotWithShape="1">
          <a:blip r:embed="rId4">
            <a:alphaModFix/>
          </a:blip>
          <a:srcRect r="40713"/>
          <a:stretch/>
        </p:blipFill>
        <p:spPr>
          <a:xfrm rot="10800000">
            <a:off x="184152" y="156700"/>
            <a:ext cx="1463098" cy="4629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1">
    <p:spTree>
      <p:nvGrpSpPr>
        <p:cNvPr id="1" name="Shape 223"/>
        <p:cNvGrpSpPr/>
        <p:nvPr/>
      </p:nvGrpSpPr>
      <p:grpSpPr>
        <a:xfrm>
          <a:off x="0" y="0"/>
          <a:ext cx="0" cy="0"/>
          <a:chOff x="0" y="0"/>
          <a:chExt cx="0" cy="0"/>
        </a:xfrm>
      </p:grpSpPr>
      <p:sp>
        <p:nvSpPr>
          <p:cNvPr id="224" name="Google Shape;224;p2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25" name="Google Shape;225;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6" name="Google Shape;226;p27"/>
          <p:cNvSpPr txBox="1">
            <a:spLocks noGrp="1"/>
          </p:cNvSpPr>
          <p:nvPr>
            <p:ph type="subTitle" idx="1"/>
          </p:nvPr>
        </p:nvSpPr>
        <p:spPr>
          <a:xfrm>
            <a:off x="4845613"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7" name="Google Shape;227;p27"/>
          <p:cNvSpPr txBox="1">
            <a:spLocks noGrp="1"/>
          </p:cNvSpPr>
          <p:nvPr>
            <p:ph type="subTitle" idx="2"/>
          </p:nvPr>
        </p:nvSpPr>
        <p:spPr>
          <a:xfrm>
            <a:off x="874188"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28" name="Google Shape;228;p27"/>
          <p:cNvGrpSpPr/>
          <p:nvPr/>
        </p:nvGrpSpPr>
        <p:grpSpPr>
          <a:xfrm>
            <a:off x="277425" y="4604002"/>
            <a:ext cx="3542749" cy="419800"/>
            <a:chOff x="277425" y="4604002"/>
            <a:chExt cx="3542749" cy="419800"/>
          </a:xfrm>
        </p:grpSpPr>
        <p:pic>
          <p:nvPicPr>
            <p:cNvPr id="229" name="Google Shape;229;p27"/>
            <p:cNvPicPr preferRelativeResize="0"/>
            <p:nvPr/>
          </p:nvPicPr>
          <p:blipFill rotWithShape="1">
            <a:blip r:embed="rId2">
              <a:alphaModFix/>
            </a:blip>
            <a:srcRect t="26724"/>
            <a:stretch/>
          </p:blipFill>
          <p:spPr>
            <a:xfrm>
              <a:off x="277425" y="4604002"/>
              <a:ext cx="2467749" cy="419800"/>
            </a:xfrm>
            <a:prstGeom prst="rect">
              <a:avLst/>
            </a:prstGeom>
            <a:noFill/>
            <a:ln>
              <a:noFill/>
            </a:ln>
          </p:spPr>
        </p:pic>
        <p:pic>
          <p:nvPicPr>
            <p:cNvPr id="230" name="Google Shape;230;p27"/>
            <p:cNvPicPr preferRelativeResize="0"/>
            <p:nvPr/>
          </p:nvPicPr>
          <p:blipFill rotWithShape="1">
            <a:blip r:embed="rId2">
              <a:alphaModFix/>
            </a:blip>
            <a:srcRect t="26724"/>
            <a:stretch/>
          </p:blipFill>
          <p:spPr>
            <a:xfrm>
              <a:off x="1352425" y="4604002"/>
              <a:ext cx="2467749" cy="419800"/>
            </a:xfrm>
            <a:prstGeom prst="rect">
              <a:avLst/>
            </a:prstGeom>
            <a:noFill/>
            <a:ln>
              <a:noFill/>
            </a:ln>
          </p:spPr>
        </p:pic>
      </p:grpSp>
      <p:grpSp>
        <p:nvGrpSpPr>
          <p:cNvPr id="231" name="Google Shape;231;p27"/>
          <p:cNvGrpSpPr/>
          <p:nvPr/>
        </p:nvGrpSpPr>
        <p:grpSpPr>
          <a:xfrm rot="10800000">
            <a:off x="568325" y="4633850"/>
            <a:ext cx="5797550" cy="230250"/>
            <a:chOff x="5873750" y="218475"/>
            <a:chExt cx="5797550" cy="230250"/>
          </a:xfrm>
        </p:grpSpPr>
        <p:cxnSp>
          <p:nvCxnSpPr>
            <p:cNvPr id="232" name="Google Shape;232;p27"/>
            <p:cNvCxnSpPr/>
            <p:nvPr/>
          </p:nvCxnSpPr>
          <p:spPr>
            <a:xfrm>
              <a:off x="5873750" y="290288"/>
              <a:ext cx="1981200" cy="0"/>
            </a:xfrm>
            <a:prstGeom prst="straightConnector1">
              <a:avLst/>
            </a:prstGeom>
            <a:noFill/>
            <a:ln w="9525" cap="flat" cmpd="sng">
              <a:solidFill>
                <a:schemeClr val="accent1"/>
              </a:solidFill>
              <a:prstDash val="solid"/>
              <a:round/>
              <a:headEnd type="oval" w="med" len="med"/>
              <a:tailEnd type="none" w="med" len="med"/>
            </a:ln>
          </p:spPr>
        </p:cxnSp>
        <p:sp>
          <p:nvSpPr>
            <p:cNvPr id="233" name="Google Shape;233;p27"/>
            <p:cNvSpPr/>
            <p:nvPr/>
          </p:nvSpPr>
          <p:spPr>
            <a:xfrm>
              <a:off x="6800850" y="218475"/>
              <a:ext cx="4870450" cy="230250"/>
            </a:xfrm>
            <a:custGeom>
              <a:avLst/>
              <a:gdLst/>
              <a:ahLst/>
              <a:cxnLst/>
              <a:rect l="l" t="t" r="r" b="b"/>
              <a:pathLst>
                <a:path w="194818" h="9210" extrusionOk="0">
                  <a:moveTo>
                    <a:pt x="194818" y="0"/>
                  </a:moveTo>
                  <a:lnTo>
                    <a:pt x="43688" y="233"/>
                  </a:lnTo>
                  <a:lnTo>
                    <a:pt x="38505" y="9210"/>
                  </a:lnTo>
                  <a:lnTo>
                    <a:pt x="10160" y="9210"/>
                  </a:lnTo>
                  <a:lnTo>
                    <a:pt x="0" y="9210"/>
                  </a:lnTo>
                </a:path>
              </a:pathLst>
            </a:custGeom>
            <a:noFill/>
            <a:ln w="9525" cap="flat" cmpd="sng">
              <a:solidFill>
                <a:schemeClr val="lt2"/>
              </a:solidFill>
              <a:prstDash val="solid"/>
              <a:round/>
              <a:headEnd type="none" w="med" len="med"/>
              <a:tailEnd type="oval" w="med" len="med"/>
            </a:ln>
          </p:spPr>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lt1"/>
        </a:solidFill>
        <a:effectLst/>
      </p:bgPr>
    </p:bg>
    <p:spTree>
      <p:nvGrpSpPr>
        <p:cNvPr id="1" name="Shape 350"/>
        <p:cNvGrpSpPr/>
        <p:nvPr/>
      </p:nvGrpSpPr>
      <p:grpSpPr>
        <a:xfrm>
          <a:off x="0" y="0"/>
          <a:ext cx="0" cy="0"/>
          <a:chOff x="0" y="0"/>
          <a:chExt cx="0" cy="0"/>
        </a:xfrm>
      </p:grpSpPr>
      <p:sp>
        <p:nvSpPr>
          <p:cNvPr id="351" name="Google Shape;351;p35"/>
          <p:cNvSpPr/>
          <p:nvPr/>
        </p:nvSpPr>
        <p:spPr>
          <a:xfrm>
            <a:off x="182700" y="151650"/>
            <a:ext cx="8778600" cy="4840200"/>
          </a:xfrm>
          <a:prstGeom prst="snip1Rect">
            <a:avLst>
              <a:gd name="adj" fmla="val 448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352" name="Google Shape;352;p35"/>
          <p:cNvGrpSpPr/>
          <p:nvPr/>
        </p:nvGrpSpPr>
        <p:grpSpPr>
          <a:xfrm>
            <a:off x="-113450" y="-1649725"/>
            <a:ext cx="9394610" cy="8421100"/>
            <a:chOff x="-113450" y="-1649725"/>
            <a:chExt cx="9394610" cy="8421100"/>
          </a:xfrm>
        </p:grpSpPr>
        <p:grpSp>
          <p:nvGrpSpPr>
            <p:cNvPr id="353" name="Google Shape;353;p35"/>
            <p:cNvGrpSpPr/>
            <p:nvPr/>
          </p:nvGrpSpPr>
          <p:grpSpPr>
            <a:xfrm>
              <a:off x="-113450" y="-1649725"/>
              <a:ext cx="8689100" cy="5214600"/>
              <a:chOff x="-113450" y="-1649725"/>
              <a:chExt cx="8689100" cy="5214600"/>
            </a:xfrm>
          </p:grpSpPr>
          <p:sp>
            <p:nvSpPr>
              <p:cNvPr id="354" name="Google Shape;354;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sp>
          <p:sp>
            <p:nvSpPr>
              <p:cNvPr id="355" name="Google Shape;355;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sp>
          <p:sp>
            <p:nvSpPr>
              <p:cNvPr id="356" name="Google Shape;356;p35"/>
              <p:cNvSpPr/>
              <p:nvPr/>
            </p:nvSpPr>
            <p:spPr>
              <a:xfrm>
                <a:off x="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sp>
        </p:grpSp>
        <p:grpSp>
          <p:nvGrpSpPr>
            <p:cNvPr id="357" name="Google Shape;357;p35"/>
            <p:cNvGrpSpPr/>
            <p:nvPr/>
          </p:nvGrpSpPr>
          <p:grpSpPr>
            <a:xfrm rot="10800000">
              <a:off x="553960" y="1556775"/>
              <a:ext cx="8727200" cy="5214600"/>
              <a:chOff x="-113450" y="-1649725"/>
              <a:chExt cx="8727200" cy="5214600"/>
            </a:xfrm>
          </p:grpSpPr>
          <p:sp>
            <p:nvSpPr>
              <p:cNvPr id="358" name="Google Shape;358;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sp>
          <p:sp>
            <p:nvSpPr>
              <p:cNvPr id="359" name="Google Shape;359;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sp>
          <p:sp>
            <p:nvSpPr>
              <p:cNvPr id="360" name="Google Shape;360;p35"/>
              <p:cNvSpPr/>
              <p:nvPr/>
            </p:nvSpPr>
            <p:spPr>
              <a:xfrm>
                <a:off x="3810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1"/>
        <p:cNvGrpSpPr/>
        <p:nvPr/>
      </p:nvGrpSpPr>
      <p:grpSpPr>
        <a:xfrm>
          <a:off x="0" y="0"/>
          <a:ext cx="0" cy="0"/>
          <a:chOff x="0" y="0"/>
          <a:chExt cx="0" cy="0"/>
        </a:xfrm>
      </p:grpSpPr>
      <p:grpSp>
        <p:nvGrpSpPr>
          <p:cNvPr id="362" name="Google Shape;362;p36"/>
          <p:cNvGrpSpPr/>
          <p:nvPr/>
        </p:nvGrpSpPr>
        <p:grpSpPr>
          <a:xfrm>
            <a:off x="-93668" y="0"/>
            <a:ext cx="9329109" cy="5143497"/>
            <a:chOff x="-93668" y="0"/>
            <a:chExt cx="9329109" cy="5143497"/>
          </a:xfrm>
        </p:grpSpPr>
        <p:grpSp>
          <p:nvGrpSpPr>
            <p:cNvPr id="363" name="Google Shape;363;p36"/>
            <p:cNvGrpSpPr/>
            <p:nvPr/>
          </p:nvGrpSpPr>
          <p:grpSpPr>
            <a:xfrm rot="10800000">
              <a:off x="5592122" y="2697400"/>
              <a:ext cx="3643319" cy="2446097"/>
              <a:chOff x="-93668" y="0"/>
              <a:chExt cx="3643319" cy="2446097"/>
            </a:xfrm>
          </p:grpSpPr>
          <p:grpSp>
            <p:nvGrpSpPr>
              <p:cNvPr id="364" name="Google Shape;364;p36"/>
              <p:cNvGrpSpPr/>
              <p:nvPr/>
            </p:nvGrpSpPr>
            <p:grpSpPr>
              <a:xfrm rot="5400000">
                <a:off x="-1020033" y="926370"/>
                <a:ext cx="2446091" cy="593362"/>
                <a:chOff x="162825" y="4587541"/>
                <a:chExt cx="1763711" cy="427833"/>
              </a:xfrm>
            </p:grpSpPr>
            <p:pic>
              <p:nvPicPr>
                <p:cNvPr id="365" name="Google Shape;365;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66" name="Google Shape;366;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67" name="Google Shape;367;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68" name="Google Shape;368;p36"/>
              <p:cNvGrpSpPr/>
              <p:nvPr/>
            </p:nvGrpSpPr>
            <p:grpSpPr>
              <a:xfrm rot="10800000">
                <a:off x="0" y="0"/>
                <a:ext cx="3549651" cy="387101"/>
                <a:chOff x="3124200" y="4610350"/>
                <a:chExt cx="3549651" cy="387101"/>
              </a:xfrm>
            </p:grpSpPr>
            <p:pic>
              <p:nvPicPr>
                <p:cNvPr id="369" name="Google Shape;369;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0" name="Google Shape;370;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nvGrpSpPr>
            <p:cNvPr id="371" name="Google Shape;371;p36"/>
            <p:cNvGrpSpPr/>
            <p:nvPr/>
          </p:nvGrpSpPr>
          <p:grpSpPr>
            <a:xfrm>
              <a:off x="-93668" y="0"/>
              <a:ext cx="3643319" cy="2446097"/>
              <a:chOff x="-93668" y="0"/>
              <a:chExt cx="3643319" cy="2446097"/>
            </a:xfrm>
          </p:grpSpPr>
          <p:grpSp>
            <p:nvGrpSpPr>
              <p:cNvPr id="372" name="Google Shape;372;p36"/>
              <p:cNvGrpSpPr/>
              <p:nvPr/>
            </p:nvGrpSpPr>
            <p:grpSpPr>
              <a:xfrm rot="5400000">
                <a:off x="-1020033" y="926370"/>
                <a:ext cx="2446091" cy="593362"/>
                <a:chOff x="162825" y="4587541"/>
                <a:chExt cx="1763711" cy="427833"/>
              </a:xfrm>
            </p:grpSpPr>
            <p:pic>
              <p:nvPicPr>
                <p:cNvPr id="373" name="Google Shape;373;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74" name="Google Shape;374;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75" name="Google Shape;375;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76" name="Google Shape;376;p36"/>
              <p:cNvGrpSpPr/>
              <p:nvPr/>
            </p:nvGrpSpPr>
            <p:grpSpPr>
              <a:xfrm rot="10800000">
                <a:off x="0" y="0"/>
                <a:ext cx="3549651" cy="387101"/>
                <a:chOff x="3124200" y="4610350"/>
                <a:chExt cx="3549651" cy="387101"/>
              </a:xfrm>
            </p:grpSpPr>
            <p:pic>
              <p:nvPicPr>
                <p:cNvPr id="377" name="Google Shape;377;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8" name="Google Shape;378;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sp>
        <p:nvSpPr>
          <p:cNvPr id="379" name="Google Shape;379;p36"/>
          <p:cNvSpPr/>
          <p:nvPr/>
        </p:nvSpPr>
        <p:spPr>
          <a:xfrm>
            <a:off x="175255" y="182850"/>
            <a:ext cx="8793600" cy="4777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1pPr>
            <a:lvl2pPr lvl="1"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2pPr>
            <a:lvl3pPr lvl="2"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3pPr>
            <a:lvl4pPr lvl="3"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4pPr>
            <a:lvl5pPr lvl="4"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5pPr>
            <a:lvl6pPr lvl="5"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6pPr>
            <a:lvl7pPr lvl="6"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7pPr>
            <a:lvl8pPr lvl="7"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8pPr>
            <a:lvl9pPr lvl="8"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marL="914400" lvl="1"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7" r:id="rId12"/>
    <p:sldLayoutId id="2147483673" r:id="rId13"/>
    <p:sldLayoutId id="2147483681" r:id="rId14"/>
    <p:sldLayoutId id="214748368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hyperlink" Target="https://doi.org/10.1145/3637870?utm_source=chatgpt.com" TargetMode="External"/><Relationship Id="rId3" Type="http://schemas.openxmlformats.org/officeDocument/2006/relationships/hyperlink" Target="https://arxiv.org/abs/2005.11401?utm_source=chatgpt.com" TargetMode="External"/><Relationship Id="rId7" Type="http://schemas.openxmlformats.org/officeDocument/2006/relationships/hyperlink" Target="https://aclanthology.org/D19-1410/?utm_source=chatgpt.com" TargetMode="External"/><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hyperlink" Target="https://direct.mit.edu/tacl/article/doi/10.1162/tacl_a_00530/114590/Improving-the-Domain-Adaptation-of-Retrieval?utm_source=chatgpt.com" TargetMode="External"/><Relationship Id="rId5" Type="http://schemas.openxmlformats.org/officeDocument/2006/relationships/hyperlink" Target="https://proceedings.mlr.press/v119/guu20a.html" TargetMode="External"/><Relationship Id="rId4" Type="http://schemas.openxmlformats.org/officeDocument/2006/relationships/hyperlink" Target="https://aclanthology.org/2020.emnlp-main.550/?utm_source=chatgpt.com" TargetMode="External"/><Relationship Id="rId9" Type="http://schemas.openxmlformats.org/officeDocument/2006/relationships/hyperlink" Target="https://arxiv.org/abs/1702.08734"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561/1500000019" TargetMode="External"/><Relationship Id="rId7" Type="http://schemas.openxmlformats.org/officeDocument/2006/relationships/hyperlink" Target="https://direct.mit.edu/tacl/article/doi/10.1162/tacl_a_00530/114590/Improving-the-Domain-Adaptation-of-Retrieval?utm_source=chatgpt.com" TargetMode="External"/><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hyperlink" Target="https://doi.org/10.1145/3637870?utm_source=chatgpt.com" TargetMode="External"/><Relationship Id="rId5" Type="http://schemas.openxmlformats.org/officeDocument/2006/relationships/hyperlink" Target="https://direct.mit.edu/tacl/article/doi/10.1162/tacl_a_00369/100684/Sparse-Dense-and-Attentional-Representations-for?utm_source=chatgpt.com" TargetMode="External"/><Relationship Id="rId4" Type="http://schemas.openxmlformats.org/officeDocument/2006/relationships/hyperlink" Target="https://doi.org/10.1145/3471158.3472233?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chatpdf.com/"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chatpdf.com/"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40"/>
          <p:cNvPicPr preferRelativeResize="0"/>
          <p:nvPr/>
        </p:nvPicPr>
        <p:blipFill rotWithShape="1">
          <a:blip r:embed="rId3">
            <a:alphaModFix/>
          </a:blip>
          <a:srcRect l="2124" b="9502"/>
          <a:stretch/>
        </p:blipFill>
        <p:spPr>
          <a:xfrm>
            <a:off x="0" y="3692921"/>
            <a:ext cx="4304653" cy="1455275"/>
          </a:xfrm>
          <a:prstGeom prst="rect">
            <a:avLst/>
          </a:prstGeom>
          <a:noFill/>
          <a:ln>
            <a:noFill/>
          </a:ln>
        </p:spPr>
      </p:pic>
      <p:pic>
        <p:nvPicPr>
          <p:cNvPr id="391" name="Google Shape;391;p40"/>
          <p:cNvPicPr preferRelativeResize="0"/>
          <p:nvPr/>
        </p:nvPicPr>
        <p:blipFill rotWithShape="1">
          <a:blip r:embed="rId4">
            <a:alphaModFix/>
          </a:blip>
          <a:srcRect t="19097" r="5042" b="2954"/>
          <a:stretch/>
        </p:blipFill>
        <p:spPr>
          <a:xfrm>
            <a:off x="2396525" y="3055175"/>
            <a:ext cx="3716124" cy="958850"/>
          </a:xfrm>
          <a:prstGeom prst="rect">
            <a:avLst/>
          </a:prstGeom>
          <a:noFill/>
          <a:ln>
            <a:noFill/>
          </a:ln>
        </p:spPr>
      </p:pic>
      <p:pic>
        <p:nvPicPr>
          <p:cNvPr id="392" name="Google Shape;392;p40"/>
          <p:cNvPicPr preferRelativeResize="0"/>
          <p:nvPr/>
        </p:nvPicPr>
        <p:blipFill>
          <a:blip r:embed="rId5">
            <a:alphaModFix/>
          </a:blip>
          <a:stretch>
            <a:fillRect/>
          </a:stretch>
        </p:blipFill>
        <p:spPr>
          <a:xfrm rot="10800000">
            <a:off x="7519424" y="3535074"/>
            <a:ext cx="456876" cy="242950"/>
          </a:xfrm>
          <a:prstGeom prst="rect">
            <a:avLst/>
          </a:prstGeom>
          <a:noFill/>
          <a:ln>
            <a:noFill/>
          </a:ln>
        </p:spPr>
      </p:pic>
      <p:sp>
        <p:nvSpPr>
          <p:cNvPr id="393" name="Google Shape;393;p40"/>
          <p:cNvSpPr txBox="1">
            <a:spLocks noGrp="1"/>
          </p:cNvSpPr>
          <p:nvPr>
            <p:ph type="ctrTitle"/>
          </p:nvPr>
        </p:nvSpPr>
        <p:spPr>
          <a:xfrm>
            <a:off x="1022918" y="914400"/>
            <a:ext cx="7206682" cy="2193613"/>
          </a:xfrm>
          <a:prstGeom prst="rect">
            <a:avLst/>
          </a:prstGeom>
        </p:spPr>
        <p:txBody>
          <a:bodyPr spcFirstLastPara="1" wrap="square" lIns="91425" tIns="91425" rIns="91425" bIns="91425" anchor="b" anchorCtr="0">
            <a:noAutofit/>
          </a:bodyPr>
          <a:lstStyle/>
          <a:p>
            <a:pPr lvl="0"/>
            <a:r>
              <a:rPr lang="en-IN" sz="3600" dirty="0"/>
              <a:t>Adaptive Hybrid RAG Framework for </a:t>
            </a:r>
            <a:r>
              <a:rPr lang="en-IN" sz="3600" dirty="0">
                <a:solidFill>
                  <a:schemeClr val="accent2"/>
                </a:solidFill>
              </a:rPr>
              <a:t>Context-Aware Document Intelligence</a:t>
            </a:r>
          </a:p>
        </p:txBody>
      </p:sp>
      <p:sp>
        <p:nvSpPr>
          <p:cNvPr id="394" name="Google Shape;394;p40"/>
          <p:cNvSpPr txBox="1">
            <a:spLocks noGrp="1"/>
          </p:cNvSpPr>
          <p:nvPr>
            <p:ph type="subTitle" idx="1"/>
          </p:nvPr>
        </p:nvSpPr>
        <p:spPr>
          <a:xfrm>
            <a:off x="4088185" y="3450826"/>
            <a:ext cx="3398071" cy="1556547"/>
          </a:xfrm>
          <a:prstGeom prst="rect">
            <a:avLst/>
          </a:prstGeom>
        </p:spPr>
        <p:txBody>
          <a:bodyPr spcFirstLastPara="1" wrap="square" lIns="91425" tIns="91425" rIns="91425" bIns="91425" anchor="t" anchorCtr="0">
            <a:noAutofit/>
          </a:bodyPr>
          <a:lstStyle/>
          <a:p>
            <a:pPr marL="0" lvl="0" indent="0" algn="r"/>
            <a:r>
              <a:rPr lang="en-IN" sz="1100" dirty="0"/>
              <a:t>An Adaptive Hybrid Retrieval Framework for Trustworthy AI-Powered Document Intelligence</a:t>
            </a:r>
            <a:endParaRPr sz="1100" dirty="0"/>
          </a:p>
        </p:txBody>
      </p:sp>
      <p:pic>
        <p:nvPicPr>
          <p:cNvPr id="2" name="Picture 1" descr="MAPS &amp; DIRECTIONS - Best Private University in Telangana ...">
            <a:extLst>
              <a:ext uri="{FF2B5EF4-FFF2-40B4-BE49-F238E27FC236}">
                <a16:creationId xmlns:a16="http://schemas.microsoft.com/office/drawing/2014/main" id="{3A17F88E-B9EA-4D02-3072-CF7C5E53F061}"/>
              </a:ext>
            </a:extLst>
          </p:cNvPr>
          <p:cNvPicPr>
            <a:picLocks noChangeAspect="1"/>
          </p:cNvPicPr>
          <p:nvPr/>
        </p:nvPicPr>
        <p:blipFill>
          <a:blip r:embed="rId6"/>
          <a:stretch>
            <a:fillRect/>
          </a:stretch>
        </p:blipFill>
        <p:spPr>
          <a:xfrm>
            <a:off x="7332383" y="-30354"/>
            <a:ext cx="1392989" cy="10353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Problem Statement</a:t>
            </a:r>
            <a:r>
              <a:rPr lang="de" dirty="0"/>
              <a:t>?</a:t>
            </a:r>
            <a:endParaRPr dirty="0"/>
          </a:p>
        </p:txBody>
      </p:sp>
      <p:sp>
        <p:nvSpPr>
          <p:cNvPr id="4" name="TextBox 3">
            <a:extLst>
              <a:ext uri="{FF2B5EF4-FFF2-40B4-BE49-F238E27FC236}">
                <a16:creationId xmlns:a16="http://schemas.microsoft.com/office/drawing/2014/main" id="{C7F2E3C7-C28B-F8B4-399B-58C0E9C6DB83}"/>
              </a:ext>
            </a:extLst>
          </p:cNvPr>
          <p:cNvSpPr txBox="1"/>
          <p:nvPr/>
        </p:nvSpPr>
        <p:spPr>
          <a:xfrm>
            <a:off x="719999" y="1598342"/>
            <a:ext cx="3703317" cy="1815882"/>
          </a:xfrm>
          <a:prstGeom prst="rect">
            <a:avLst/>
          </a:prstGeom>
          <a:noFill/>
        </p:spPr>
        <p:txBody>
          <a:bodyPr wrap="square" rtlCol="0">
            <a:spAutoFit/>
          </a:bodyPr>
          <a:lstStyle/>
          <a:p>
            <a:pPr algn="just"/>
            <a:r>
              <a:rPr lang="en-IN" dirty="0">
                <a:solidFill>
                  <a:schemeClr val="accent3">
                    <a:lumMod val="75000"/>
                  </a:schemeClr>
                </a:solidFill>
                <a:latin typeface="Archivo" panose="020B0604020202020204" charset="0"/>
                <a:cs typeface="Archivo" panose="020B0604020202020204" charset="0"/>
              </a:rPr>
              <a:t>Organizations and educational institutions manage thousands of digital documents such as research papers, reports, manuals, and policies. Finding specific information from these documents is often time-consuming, and traditional keyword search fails to understand the actual context or meaning of a user's query.</a:t>
            </a:r>
          </a:p>
        </p:txBody>
      </p:sp>
      <p:sp>
        <p:nvSpPr>
          <p:cNvPr id="7" name="TextBox 6">
            <a:extLst>
              <a:ext uri="{FF2B5EF4-FFF2-40B4-BE49-F238E27FC236}">
                <a16:creationId xmlns:a16="http://schemas.microsoft.com/office/drawing/2014/main" id="{05016709-7598-280D-7851-184EDA583185}"/>
              </a:ext>
            </a:extLst>
          </p:cNvPr>
          <p:cNvSpPr txBox="1"/>
          <p:nvPr/>
        </p:nvSpPr>
        <p:spPr>
          <a:xfrm>
            <a:off x="4720686" y="1576040"/>
            <a:ext cx="3703317" cy="2246769"/>
          </a:xfrm>
          <a:prstGeom prst="rect">
            <a:avLst/>
          </a:prstGeom>
          <a:noFill/>
        </p:spPr>
        <p:txBody>
          <a:bodyPr wrap="square" rtlCol="0">
            <a:spAutoFit/>
          </a:bodyPr>
          <a:lstStyle/>
          <a:p>
            <a:pPr algn="just"/>
            <a:r>
              <a:rPr lang="en-IN" dirty="0">
                <a:solidFill>
                  <a:schemeClr val="accent3">
                    <a:lumMod val="75000"/>
                  </a:schemeClr>
                </a:solidFill>
                <a:latin typeface="Archivo" panose="020B0604020202020204" charset="0"/>
                <a:cs typeface="Archivo" panose="020B0604020202020204" charset="0"/>
              </a:rPr>
              <a:t>Large Language Models (LLMs) can generate natural language responses but may produce inaccurate or hallucinated answers for private documents. Therefore, there is a need for an intelligent document question-answering system that retrieves relevant information from uploaded documents and provides trustworthy, explainable answers with supporting evidence</a:t>
            </a:r>
          </a:p>
        </p:txBody>
      </p:sp>
      <p:pic>
        <p:nvPicPr>
          <p:cNvPr id="6" name="Picture 5" descr="MAPS &amp; DIRECTIONS - Best Private University in Telangana ...">
            <a:extLst>
              <a:ext uri="{FF2B5EF4-FFF2-40B4-BE49-F238E27FC236}">
                <a16:creationId xmlns:a16="http://schemas.microsoft.com/office/drawing/2014/main" id="{3BA2D2EA-31E4-D348-4E80-45D74F18D32F}"/>
              </a:ext>
            </a:extLst>
          </p:cNvPr>
          <p:cNvPicPr>
            <a:picLocks noChangeAspect="1"/>
          </p:cNvPicPr>
          <p:nvPr/>
        </p:nvPicPr>
        <p:blipFill>
          <a:blip r:embed="rId3"/>
          <a:stretch>
            <a:fillRect/>
          </a:stretch>
        </p:blipFill>
        <p:spPr>
          <a:xfrm>
            <a:off x="7607446" y="-166352"/>
            <a:ext cx="1392989" cy="1035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55"/>
          <p:cNvSpPr txBox="1">
            <a:spLocks noGrp="1"/>
          </p:cNvSpPr>
          <p:nvPr>
            <p:ph type="title"/>
          </p:nvPr>
        </p:nvSpPr>
        <p:spPr>
          <a:xfrm>
            <a:off x="4415038" y="428305"/>
            <a:ext cx="3399370" cy="585681"/>
          </a:xfrm>
          <a:prstGeom prst="rect">
            <a:avLst/>
          </a:prstGeom>
          <a:ln>
            <a:solidFill>
              <a:schemeClr val="bg1"/>
            </a:solidFill>
          </a:ln>
        </p:spPr>
        <p:txBody>
          <a:bodyPr spcFirstLastPara="1" wrap="square" lIns="91425" tIns="91425" rIns="91425" bIns="0" anchor="b" anchorCtr="0">
            <a:noAutofit/>
          </a:bodyPr>
          <a:lstStyle/>
          <a:p>
            <a:pPr lvl="0"/>
            <a:r>
              <a:rPr lang="en-IN" sz="3600" dirty="0"/>
              <a:t>Objectives</a:t>
            </a:r>
            <a:endParaRPr sz="3600" dirty="0"/>
          </a:p>
        </p:txBody>
      </p:sp>
      <p:sp>
        <p:nvSpPr>
          <p:cNvPr id="567" name="Google Shape;567;p55"/>
          <p:cNvSpPr txBox="1">
            <a:spLocks noGrp="1"/>
          </p:cNvSpPr>
          <p:nvPr>
            <p:ph type="subTitle" idx="1"/>
          </p:nvPr>
        </p:nvSpPr>
        <p:spPr>
          <a:xfrm>
            <a:off x="818738" y="1283085"/>
            <a:ext cx="7341282" cy="2444052"/>
          </a:xfrm>
          <a:prstGeom prst="rect">
            <a:avLst/>
          </a:prstGeom>
        </p:spPr>
        <p:txBody>
          <a:bodyPr spcFirstLastPara="1" wrap="square" lIns="91425" tIns="91425" rIns="91425" bIns="91425" anchor="t" anchorCtr="0">
            <a:noAutofit/>
          </a:bodyPr>
          <a:lstStyle/>
          <a:p>
            <a:pPr lvl="0" algn="l"/>
            <a:r>
              <a:rPr lang="en-IN" sz="1400" dirty="0">
                <a:sym typeface="Wingdings" panose="05000000000000000000" pitchFamily="2" charset="2"/>
              </a:rPr>
              <a:t></a:t>
            </a:r>
            <a:r>
              <a:rPr lang="en-IN" sz="1400" dirty="0"/>
              <a:t>Develop an AI-powered document intelligence system for multiple document formats (PDF, DOCX, and TXT). </a:t>
            </a:r>
          </a:p>
          <a:p>
            <a:pPr lvl="0" algn="l"/>
            <a:r>
              <a:rPr lang="en-IN" sz="1400" dirty="0">
                <a:sym typeface="Wingdings" panose="05000000000000000000" pitchFamily="2" charset="2"/>
              </a:rPr>
              <a:t> </a:t>
            </a:r>
            <a:r>
              <a:rPr lang="en-IN" sz="1400" dirty="0"/>
              <a:t>Implement </a:t>
            </a:r>
            <a:r>
              <a:rPr lang="en-IN" sz="1400" b="1" dirty="0"/>
              <a:t>Adaptive Hybrid Retrieval</a:t>
            </a:r>
            <a:r>
              <a:rPr lang="en-IN" sz="1400" dirty="0"/>
              <a:t> by combining BM25 and Semantic Search for accurate information retrieval. </a:t>
            </a:r>
          </a:p>
          <a:p>
            <a:pPr lvl="0" algn="l"/>
            <a:r>
              <a:rPr lang="en-IN" sz="1400" dirty="0">
                <a:sym typeface="Wingdings" panose="05000000000000000000" pitchFamily="2" charset="2"/>
              </a:rPr>
              <a:t> </a:t>
            </a:r>
            <a:r>
              <a:rPr lang="en-IN" sz="1400" dirty="0"/>
              <a:t>Generate context-aware answers using a Large Language Model (Llama 3/Mistral) based on retrieved document content. </a:t>
            </a:r>
          </a:p>
          <a:p>
            <a:pPr lvl="0" algn="l"/>
            <a:r>
              <a:rPr lang="en-IN" sz="1400" dirty="0">
                <a:sym typeface="Wingdings" panose="05000000000000000000" pitchFamily="2" charset="2"/>
              </a:rPr>
              <a:t> </a:t>
            </a:r>
            <a:r>
              <a:rPr lang="en-IN" sz="1400" dirty="0"/>
              <a:t>Provide </a:t>
            </a:r>
            <a:r>
              <a:rPr lang="en-IN" sz="1400" b="1" dirty="0"/>
              <a:t>interactive evidence</a:t>
            </a:r>
            <a:r>
              <a:rPr lang="en-IN" sz="1400" dirty="0"/>
              <a:t> by highlighting the exact text in the original document used to generate the answer. </a:t>
            </a:r>
          </a:p>
          <a:p>
            <a:pPr lvl="0" algn="l"/>
            <a:r>
              <a:rPr lang="en-IN" sz="1400" dirty="0">
                <a:sym typeface="Wingdings" panose="05000000000000000000" pitchFamily="2" charset="2"/>
              </a:rPr>
              <a:t> </a:t>
            </a:r>
            <a:r>
              <a:rPr lang="en-IN" sz="1400" dirty="0"/>
              <a:t>Support conversation history and document summarization for an improved user experience. </a:t>
            </a:r>
          </a:p>
          <a:p>
            <a:pPr lvl="0" algn="l"/>
            <a:r>
              <a:rPr lang="en-IN" sz="1400" dirty="0">
                <a:sym typeface="Wingdings" panose="05000000000000000000" pitchFamily="2" charset="2"/>
              </a:rPr>
              <a:t> </a:t>
            </a:r>
            <a:r>
              <a:rPr lang="en-IN" sz="1400" dirty="0"/>
              <a:t>Build a reliable and explainable document question-answering platform that minimizes hallucinations and improves user trust. </a:t>
            </a:r>
          </a:p>
        </p:txBody>
      </p:sp>
      <p:grpSp>
        <p:nvGrpSpPr>
          <p:cNvPr id="568" name="Google Shape;568;p55"/>
          <p:cNvGrpSpPr/>
          <p:nvPr/>
        </p:nvGrpSpPr>
        <p:grpSpPr>
          <a:xfrm>
            <a:off x="-59500" y="0"/>
            <a:ext cx="9263000" cy="5219700"/>
            <a:chOff x="-52375" y="0"/>
            <a:chExt cx="9263000" cy="5219700"/>
          </a:xfrm>
        </p:grpSpPr>
        <p:pic>
          <p:nvPicPr>
            <p:cNvPr id="569" name="Google Shape;569;p55"/>
            <p:cNvPicPr preferRelativeResize="0"/>
            <p:nvPr/>
          </p:nvPicPr>
          <p:blipFill rotWithShape="1">
            <a:blip r:embed="rId3">
              <a:alphaModFix/>
            </a:blip>
            <a:srcRect l="22774" t="71899"/>
            <a:stretch/>
          </p:blipFill>
          <p:spPr>
            <a:xfrm rot="10800000">
              <a:off x="3459875" y="4829625"/>
              <a:ext cx="3859800" cy="390075"/>
            </a:xfrm>
            <a:prstGeom prst="rect">
              <a:avLst/>
            </a:prstGeom>
            <a:noFill/>
            <a:ln>
              <a:noFill/>
            </a:ln>
          </p:spPr>
        </p:pic>
        <p:pic>
          <p:nvPicPr>
            <p:cNvPr id="570" name="Google Shape;570;p55"/>
            <p:cNvPicPr preferRelativeResize="0"/>
            <p:nvPr/>
          </p:nvPicPr>
          <p:blipFill rotWithShape="1">
            <a:blip r:embed="rId4">
              <a:alphaModFix/>
            </a:blip>
            <a:srcRect l="2363" b="9877"/>
            <a:stretch/>
          </p:blipFill>
          <p:spPr>
            <a:xfrm>
              <a:off x="-52375" y="3762375"/>
              <a:ext cx="4073800" cy="1381126"/>
            </a:xfrm>
            <a:prstGeom prst="rect">
              <a:avLst/>
            </a:prstGeom>
            <a:noFill/>
            <a:ln>
              <a:noFill/>
            </a:ln>
          </p:spPr>
        </p:pic>
        <p:cxnSp>
          <p:nvCxnSpPr>
            <p:cNvPr id="571" name="Google Shape;571;p55"/>
            <p:cNvCxnSpPr/>
            <p:nvPr/>
          </p:nvCxnSpPr>
          <p:spPr>
            <a:xfrm>
              <a:off x="1321775" y="331598"/>
              <a:ext cx="5172000" cy="0"/>
            </a:xfrm>
            <a:prstGeom prst="straightConnector1">
              <a:avLst/>
            </a:prstGeom>
            <a:noFill/>
            <a:ln w="9525" cap="flat" cmpd="sng">
              <a:solidFill>
                <a:schemeClr val="lt2"/>
              </a:solidFill>
              <a:prstDash val="solid"/>
              <a:round/>
              <a:headEnd type="none" w="med" len="med"/>
              <a:tailEnd type="oval" w="med" len="med"/>
            </a:ln>
          </p:spPr>
        </p:cxnSp>
        <p:pic>
          <p:nvPicPr>
            <p:cNvPr id="572" name="Google Shape;572;p55"/>
            <p:cNvPicPr preferRelativeResize="0"/>
            <p:nvPr/>
          </p:nvPicPr>
          <p:blipFill>
            <a:blip r:embed="rId5">
              <a:alphaModFix/>
            </a:blip>
            <a:stretch>
              <a:fillRect/>
            </a:stretch>
          </p:blipFill>
          <p:spPr>
            <a:xfrm>
              <a:off x="2695279" y="22859"/>
              <a:ext cx="3848626" cy="1209667"/>
            </a:xfrm>
            <a:prstGeom prst="rect">
              <a:avLst/>
            </a:prstGeom>
            <a:noFill/>
            <a:ln>
              <a:noFill/>
            </a:ln>
          </p:spPr>
        </p:pic>
        <p:pic>
          <p:nvPicPr>
            <p:cNvPr id="573" name="Google Shape;573;p55"/>
            <p:cNvPicPr preferRelativeResize="0"/>
            <p:nvPr/>
          </p:nvPicPr>
          <p:blipFill rotWithShape="1">
            <a:blip r:embed="rId4">
              <a:alphaModFix/>
            </a:blip>
            <a:srcRect l="2363" b="9877"/>
            <a:stretch/>
          </p:blipFill>
          <p:spPr>
            <a:xfrm rot="5400000">
              <a:off x="-1391438" y="1391438"/>
              <a:ext cx="4200526" cy="1417650"/>
            </a:xfrm>
            <a:prstGeom prst="rect">
              <a:avLst/>
            </a:prstGeom>
            <a:noFill/>
            <a:ln>
              <a:noFill/>
            </a:ln>
          </p:spPr>
        </p:pic>
        <p:grpSp>
          <p:nvGrpSpPr>
            <p:cNvPr id="574" name="Google Shape;574;p55"/>
            <p:cNvGrpSpPr/>
            <p:nvPr/>
          </p:nvGrpSpPr>
          <p:grpSpPr>
            <a:xfrm>
              <a:off x="5136825" y="0"/>
              <a:ext cx="4073800" cy="5143501"/>
              <a:chOff x="5136825" y="0"/>
              <a:chExt cx="4073800" cy="5143501"/>
            </a:xfrm>
          </p:grpSpPr>
          <p:pic>
            <p:nvPicPr>
              <p:cNvPr id="575" name="Google Shape;575;p55"/>
              <p:cNvPicPr preferRelativeResize="0"/>
              <p:nvPr/>
            </p:nvPicPr>
            <p:blipFill rotWithShape="1">
              <a:blip r:embed="rId4">
                <a:alphaModFix/>
              </a:blip>
              <a:srcRect l="2363" b="9877"/>
              <a:stretch/>
            </p:blipFill>
            <p:spPr>
              <a:xfrm rot="10800000">
                <a:off x="5136825" y="0"/>
                <a:ext cx="4073800" cy="1381126"/>
              </a:xfrm>
              <a:prstGeom prst="rect">
                <a:avLst/>
              </a:prstGeom>
              <a:noFill/>
              <a:ln>
                <a:noFill/>
              </a:ln>
            </p:spPr>
          </p:pic>
          <p:pic>
            <p:nvPicPr>
              <p:cNvPr id="576" name="Google Shape;576;p55"/>
              <p:cNvPicPr preferRelativeResize="0"/>
              <p:nvPr/>
            </p:nvPicPr>
            <p:blipFill rotWithShape="1">
              <a:blip r:embed="rId4">
                <a:alphaModFix/>
              </a:blip>
              <a:srcRect l="2363" b="9877"/>
              <a:stretch/>
            </p:blipFill>
            <p:spPr>
              <a:xfrm rot="-5400000">
                <a:off x="6349162" y="2334413"/>
                <a:ext cx="4200526" cy="1417650"/>
              </a:xfrm>
              <a:prstGeom prst="rect">
                <a:avLst/>
              </a:prstGeom>
              <a:noFill/>
              <a:ln>
                <a:noFill/>
              </a:ln>
            </p:spPr>
          </p:pic>
        </p:grpSp>
      </p:grpSp>
      <p:pic>
        <p:nvPicPr>
          <p:cNvPr id="5" name="Picture 4" descr="MAPS &amp; DIRECTIONS - Best Private University in Telangana ...">
            <a:extLst>
              <a:ext uri="{FF2B5EF4-FFF2-40B4-BE49-F238E27FC236}">
                <a16:creationId xmlns:a16="http://schemas.microsoft.com/office/drawing/2014/main" id="{3ABC311C-E558-E8FA-BFEA-75DE7F2D2D06}"/>
              </a:ext>
            </a:extLst>
          </p:cNvPr>
          <p:cNvPicPr>
            <a:picLocks noChangeAspect="1"/>
          </p:cNvPicPr>
          <p:nvPr/>
        </p:nvPicPr>
        <p:blipFill>
          <a:blip r:embed="rId6"/>
          <a:stretch>
            <a:fillRect/>
          </a:stretch>
        </p:blipFill>
        <p:spPr>
          <a:xfrm>
            <a:off x="7666920" y="-216260"/>
            <a:ext cx="1392989" cy="10353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7066F-54C9-EF53-5FA4-183FDA29B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DFF37-AF43-9269-909F-6190EF961A07}"/>
              </a:ext>
            </a:extLst>
          </p:cNvPr>
          <p:cNvSpPr>
            <a:spLocks noGrp="1"/>
          </p:cNvSpPr>
          <p:nvPr>
            <p:ph type="title"/>
          </p:nvPr>
        </p:nvSpPr>
        <p:spPr/>
        <p:txBody>
          <a:bodyPr/>
          <a:lstStyle/>
          <a:p>
            <a:r>
              <a:rPr lang="en-IN" dirty="0"/>
              <a:t>Literature Survey</a:t>
            </a:r>
          </a:p>
        </p:txBody>
      </p:sp>
      <p:pic>
        <p:nvPicPr>
          <p:cNvPr id="6" name="Picture 5" descr="MAPS &amp; DIRECTIONS - Best Private University in Telangana ...">
            <a:extLst>
              <a:ext uri="{FF2B5EF4-FFF2-40B4-BE49-F238E27FC236}">
                <a16:creationId xmlns:a16="http://schemas.microsoft.com/office/drawing/2014/main" id="{7A1B4DFE-BCB4-B039-F9E6-D0A8B170100C}"/>
              </a:ext>
            </a:extLst>
          </p:cNvPr>
          <p:cNvPicPr>
            <a:picLocks noChangeAspect="1"/>
          </p:cNvPicPr>
          <p:nvPr/>
        </p:nvPicPr>
        <p:blipFill>
          <a:blip r:embed="rId2"/>
          <a:stretch>
            <a:fillRect/>
          </a:stretch>
        </p:blipFill>
        <p:spPr>
          <a:xfrm>
            <a:off x="7533105" y="-188201"/>
            <a:ext cx="1392989" cy="1035386"/>
          </a:xfrm>
          <a:prstGeom prst="rect">
            <a:avLst/>
          </a:prstGeom>
        </p:spPr>
      </p:pic>
      <p:graphicFrame>
        <p:nvGraphicFramePr>
          <p:cNvPr id="8" name="Table 7">
            <a:extLst>
              <a:ext uri="{FF2B5EF4-FFF2-40B4-BE49-F238E27FC236}">
                <a16:creationId xmlns:a16="http://schemas.microsoft.com/office/drawing/2014/main" id="{D294AFA1-16FC-7365-FC3D-A634789FEAAD}"/>
              </a:ext>
            </a:extLst>
          </p:cNvPr>
          <p:cNvGraphicFramePr>
            <a:graphicFrameLocks noGrp="1"/>
          </p:cNvGraphicFramePr>
          <p:nvPr>
            <p:extLst>
              <p:ext uri="{D42A27DB-BD31-4B8C-83A1-F6EECF244321}">
                <p14:modId xmlns:p14="http://schemas.microsoft.com/office/powerpoint/2010/main" val="2321134419"/>
              </p:ext>
            </p:extLst>
          </p:nvPr>
        </p:nvGraphicFramePr>
        <p:xfrm>
          <a:off x="583581" y="1095907"/>
          <a:ext cx="7976838" cy="3535567"/>
        </p:xfrm>
        <a:graphic>
          <a:graphicData uri="http://schemas.openxmlformats.org/drawingml/2006/table">
            <a:tbl>
              <a:tblPr>
                <a:tableStyleId>{5DA37D80-6434-44D0-A028-1B22A696006F}</a:tableStyleId>
              </a:tblPr>
              <a:tblGrid>
                <a:gridCol w="520291">
                  <a:extLst>
                    <a:ext uri="{9D8B030D-6E8A-4147-A177-3AD203B41FA5}">
                      <a16:colId xmlns:a16="http://schemas.microsoft.com/office/drawing/2014/main" val="2572596016"/>
                    </a:ext>
                  </a:extLst>
                </a:gridCol>
                <a:gridCol w="2802864">
                  <a:extLst>
                    <a:ext uri="{9D8B030D-6E8A-4147-A177-3AD203B41FA5}">
                      <a16:colId xmlns:a16="http://schemas.microsoft.com/office/drawing/2014/main" val="709000155"/>
                    </a:ext>
                  </a:extLst>
                </a:gridCol>
                <a:gridCol w="2230306">
                  <a:extLst>
                    <a:ext uri="{9D8B030D-6E8A-4147-A177-3AD203B41FA5}">
                      <a16:colId xmlns:a16="http://schemas.microsoft.com/office/drawing/2014/main" val="3542429700"/>
                    </a:ext>
                  </a:extLst>
                </a:gridCol>
                <a:gridCol w="2423377">
                  <a:extLst>
                    <a:ext uri="{9D8B030D-6E8A-4147-A177-3AD203B41FA5}">
                      <a16:colId xmlns:a16="http://schemas.microsoft.com/office/drawing/2014/main" val="236557307"/>
                    </a:ext>
                  </a:extLst>
                </a:gridCol>
              </a:tblGrid>
              <a:tr h="212388">
                <a:tc>
                  <a:txBody>
                    <a:bodyPr/>
                    <a:lstStyle/>
                    <a:p>
                      <a:pPr>
                        <a:buNone/>
                      </a:pPr>
                      <a:r>
                        <a:rPr lang="en-IN" sz="1100"/>
                        <a:t>S.No</a:t>
                      </a:r>
                    </a:p>
                  </a:txBody>
                  <a:tcPr marL="21307" marR="21307" marT="10654" marB="10654" anchor="ctr"/>
                </a:tc>
                <a:tc>
                  <a:txBody>
                    <a:bodyPr/>
                    <a:lstStyle/>
                    <a:p>
                      <a:pPr>
                        <a:buNone/>
                      </a:pPr>
                      <a:r>
                        <a:rPr lang="en-IN" sz="1100"/>
                        <a:t>Research Paper</a:t>
                      </a:r>
                    </a:p>
                  </a:txBody>
                  <a:tcPr marL="21307" marR="21307" marT="10654" marB="10654" anchor="ctr"/>
                </a:tc>
                <a:tc>
                  <a:txBody>
                    <a:bodyPr/>
                    <a:lstStyle/>
                    <a:p>
                      <a:pPr>
                        <a:buNone/>
                      </a:pPr>
                      <a:r>
                        <a:rPr lang="en-IN" sz="1100" dirty="0"/>
                        <a:t>Key Contribution</a:t>
                      </a:r>
                    </a:p>
                  </a:txBody>
                  <a:tcPr marL="21307" marR="21307" marT="10654" marB="10654" anchor="ctr"/>
                </a:tc>
                <a:tc>
                  <a:txBody>
                    <a:bodyPr/>
                    <a:lstStyle/>
                    <a:p>
                      <a:pPr>
                        <a:buNone/>
                      </a:pPr>
                      <a:r>
                        <a:rPr lang="en-IN" sz="1100"/>
                        <a:t>Limitation</a:t>
                      </a:r>
                    </a:p>
                  </a:txBody>
                  <a:tcPr marL="21307" marR="21307" marT="10654" marB="10654" anchor="ctr"/>
                </a:tc>
                <a:extLst>
                  <a:ext uri="{0D108BD9-81ED-4DB2-BD59-A6C34878D82A}">
                    <a16:rowId xmlns:a16="http://schemas.microsoft.com/office/drawing/2014/main" val="79877129"/>
                  </a:ext>
                </a:extLst>
              </a:tr>
              <a:tr h="777698">
                <a:tc>
                  <a:txBody>
                    <a:bodyPr/>
                    <a:lstStyle/>
                    <a:p>
                      <a:pPr algn="ctr">
                        <a:buNone/>
                      </a:pPr>
                      <a:r>
                        <a:rPr lang="en-IN" sz="1100" b="1" dirty="0"/>
                        <a:t>1</a:t>
                      </a:r>
                      <a:endParaRPr lang="en-IN" sz="1100" dirty="0"/>
                    </a:p>
                  </a:txBody>
                  <a:tcPr marL="21307" marR="21307" marT="10654" marB="10654" anchor="ctr"/>
                </a:tc>
                <a:tc>
                  <a:txBody>
                    <a:bodyPr/>
                    <a:lstStyle/>
                    <a:p>
                      <a:pPr>
                        <a:buNone/>
                      </a:pPr>
                      <a:r>
                        <a:rPr lang="en-IN" sz="1100" b="1" dirty="0">
                          <a:hlinkClick r:id="rId3"/>
                        </a:rPr>
                        <a:t>Retrieval-Augmented Generation for Knowledge-Intensive NLP Tasks</a:t>
                      </a:r>
                      <a:r>
                        <a:rPr lang="en-IN" sz="1100" dirty="0">
                          <a:hlinkClick r:id="rId3"/>
                        </a:rPr>
                        <a:t> </a:t>
                      </a:r>
                      <a:r>
                        <a:rPr lang="en-IN" sz="1100" dirty="0"/>
                        <a:t>(Lewis et al., 2020)</a:t>
                      </a:r>
                    </a:p>
                  </a:txBody>
                  <a:tcPr marL="21307" marR="21307" marT="10654" marB="10654" anchor="ctr"/>
                </a:tc>
                <a:tc>
                  <a:txBody>
                    <a:bodyPr/>
                    <a:lstStyle/>
                    <a:p>
                      <a:pPr>
                        <a:buNone/>
                      </a:pPr>
                      <a:r>
                        <a:rPr lang="en-IN" sz="1100" dirty="0"/>
                        <a:t>Introduced the RAG framework by combining document retrieval with LLM-based answer generation.</a:t>
                      </a:r>
                    </a:p>
                  </a:txBody>
                  <a:tcPr marL="21307" marR="21307" marT="10654" marB="10654" anchor="ctr"/>
                </a:tc>
                <a:tc>
                  <a:txBody>
                    <a:bodyPr/>
                    <a:lstStyle/>
                    <a:p>
                      <a:pPr>
                        <a:buNone/>
                      </a:pPr>
                      <a:r>
                        <a:rPr lang="en-IN" sz="1100"/>
                        <a:t>Focuses mainly on retrieval and generation; limited explainability and enterprise-specific document intelligence. (</a:t>
                      </a:r>
                      <a:r>
                        <a:rPr lang="en-IN" sz="1100">
                          <a:hlinkClick r:id="rId3" tooltip="Retrieval-Augmented Generation for Knowledge-Intensive NLP Tasks"/>
                        </a:rPr>
                        <a:t>arXiv</a:t>
                      </a:r>
                      <a:r>
                        <a:rPr lang="en-IN" sz="1100"/>
                        <a:t>)</a:t>
                      </a:r>
                    </a:p>
                  </a:txBody>
                  <a:tcPr marL="21307" marR="21307" marT="10654" marB="10654" anchor="ctr"/>
                </a:tc>
                <a:extLst>
                  <a:ext uri="{0D108BD9-81ED-4DB2-BD59-A6C34878D82A}">
                    <a16:rowId xmlns:a16="http://schemas.microsoft.com/office/drawing/2014/main" val="2270977794"/>
                  </a:ext>
                </a:extLst>
              </a:tr>
              <a:tr h="589261">
                <a:tc>
                  <a:txBody>
                    <a:bodyPr/>
                    <a:lstStyle/>
                    <a:p>
                      <a:pPr algn="ctr">
                        <a:buNone/>
                      </a:pPr>
                      <a:r>
                        <a:rPr lang="en-IN" sz="1100" b="1" dirty="0"/>
                        <a:t>2</a:t>
                      </a:r>
                      <a:endParaRPr lang="en-IN" sz="1100" dirty="0"/>
                    </a:p>
                  </a:txBody>
                  <a:tcPr marL="21307" marR="21307" marT="10654" marB="10654" anchor="ctr"/>
                </a:tc>
                <a:tc>
                  <a:txBody>
                    <a:bodyPr/>
                    <a:lstStyle/>
                    <a:p>
                      <a:pPr>
                        <a:buNone/>
                      </a:pPr>
                      <a:r>
                        <a:rPr lang="en-IN" sz="1100" b="1" dirty="0">
                          <a:hlinkClick r:id="rId4"/>
                        </a:rPr>
                        <a:t>Dense Passage Retrieval for Open-Domain Question Answering</a:t>
                      </a:r>
                      <a:r>
                        <a:rPr lang="en-IN" sz="1100" dirty="0">
                          <a:hlinkClick r:id="rId4"/>
                        </a:rPr>
                        <a:t> </a:t>
                      </a:r>
                      <a:r>
                        <a:rPr lang="en-IN" sz="1100" dirty="0"/>
                        <a:t>(</a:t>
                      </a:r>
                      <a:r>
                        <a:rPr lang="en-IN" sz="1100" dirty="0" err="1"/>
                        <a:t>Karpukhin</a:t>
                      </a:r>
                      <a:r>
                        <a:rPr lang="en-IN" sz="1100" dirty="0"/>
                        <a:t> et al., 2020)</a:t>
                      </a:r>
                    </a:p>
                  </a:txBody>
                  <a:tcPr marL="21307" marR="21307" marT="10654" marB="10654" anchor="ctr"/>
                </a:tc>
                <a:tc>
                  <a:txBody>
                    <a:bodyPr/>
                    <a:lstStyle/>
                    <a:p>
                      <a:pPr>
                        <a:buNone/>
                      </a:pPr>
                      <a:r>
                        <a:rPr lang="en-IN" sz="1100"/>
                        <a:t>Introduced dense embedding-based semantic retrieval (DPR) for question answering.</a:t>
                      </a:r>
                    </a:p>
                  </a:txBody>
                  <a:tcPr marL="21307" marR="21307" marT="10654" marB="10654" anchor="ctr"/>
                </a:tc>
                <a:tc>
                  <a:txBody>
                    <a:bodyPr/>
                    <a:lstStyle/>
                    <a:p>
                      <a:pPr>
                        <a:buNone/>
                      </a:pPr>
                      <a:r>
                        <a:rPr lang="en-IN" sz="1100"/>
                        <a:t>Performs semantic retrieval only and may miss exact keyword matches. (</a:t>
                      </a:r>
                      <a:r>
                        <a:rPr lang="en-IN" sz="1100">
                          <a:hlinkClick r:id="rId4" tooltip="Dense Passage Retrieval for Open-Domain Question Answering - ACL Anthology"/>
                        </a:rPr>
                        <a:t>ACL Anthology</a:t>
                      </a:r>
                      <a:r>
                        <a:rPr lang="en-IN" sz="1100"/>
                        <a:t>)</a:t>
                      </a:r>
                    </a:p>
                  </a:txBody>
                  <a:tcPr marL="21307" marR="21307" marT="10654" marB="10654" anchor="ctr"/>
                </a:tc>
                <a:extLst>
                  <a:ext uri="{0D108BD9-81ED-4DB2-BD59-A6C34878D82A}">
                    <a16:rowId xmlns:a16="http://schemas.microsoft.com/office/drawing/2014/main" val="3091718304"/>
                  </a:ext>
                </a:extLst>
              </a:tr>
              <a:tr h="777698">
                <a:tc>
                  <a:txBody>
                    <a:bodyPr/>
                    <a:lstStyle/>
                    <a:p>
                      <a:pPr algn="ctr">
                        <a:buNone/>
                      </a:pPr>
                      <a:r>
                        <a:rPr lang="en-IN" sz="1100" b="1" dirty="0"/>
                        <a:t>3</a:t>
                      </a:r>
                      <a:endParaRPr lang="en-IN" sz="1100" dirty="0"/>
                    </a:p>
                  </a:txBody>
                  <a:tcPr marL="21307" marR="21307" marT="10654" marB="10654" anchor="ctr"/>
                </a:tc>
                <a:tc>
                  <a:txBody>
                    <a:bodyPr/>
                    <a:lstStyle/>
                    <a:p>
                      <a:pPr>
                        <a:buNone/>
                      </a:pPr>
                      <a:r>
                        <a:rPr lang="en-IN" sz="1100" b="1" dirty="0">
                          <a:hlinkClick r:id="rId5"/>
                        </a:rPr>
                        <a:t>REALM: Retrieval-Augmented Language Model Pre-Training</a:t>
                      </a:r>
                      <a:r>
                        <a:rPr lang="en-IN" sz="1100" dirty="0">
                          <a:hlinkClick r:id="rId5"/>
                        </a:rPr>
                        <a:t> </a:t>
                      </a:r>
                      <a:r>
                        <a:rPr lang="en-IN" sz="1100" dirty="0"/>
                        <a:t>(</a:t>
                      </a:r>
                      <a:r>
                        <a:rPr lang="en-IN" sz="1100" dirty="0" err="1"/>
                        <a:t>Guu</a:t>
                      </a:r>
                      <a:r>
                        <a:rPr lang="en-IN" sz="1100" dirty="0"/>
                        <a:t> et al., 2020)</a:t>
                      </a:r>
                    </a:p>
                  </a:txBody>
                  <a:tcPr marL="21307" marR="21307" marT="10654" marB="10654" anchor="ctr"/>
                </a:tc>
                <a:tc>
                  <a:txBody>
                    <a:bodyPr/>
                    <a:lstStyle/>
                    <a:p>
                      <a:pPr>
                        <a:buNone/>
                      </a:pPr>
                      <a:r>
                        <a:rPr lang="en-IN" sz="1100"/>
                        <a:t>Integrated retrieval directly into language model pre-training to improve factual knowledge access.</a:t>
                      </a:r>
                    </a:p>
                  </a:txBody>
                  <a:tcPr marL="21307" marR="21307" marT="10654" marB="10654" anchor="ctr"/>
                </a:tc>
                <a:tc>
                  <a:txBody>
                    <a:bodyPr/>
                    <a:lstStyle/>
                    <a:p>
                      <a:pPr>
                        <a:buNone/>
                      </a:pPr>
                      <a:r>
                        <a:rPr lang="en-IN" sz="1100" dirty="0"/>
                        <a:t>High computational complexity and difficult to adapt for enterprise document collections. (</a:t>
                      </a:r>
                      <a:r>
                        <a:rPr lang="en-IN" sz="1100" dirty="0">
                          <a:hlinkClick r:id="rId6" tooltip="Improving the Domain Adaptation of Retrieval Augmented Generation (RAG) Models for Open Domain Question Answering | Transactions of the Association for Computational Linguistics | MIT Press"/>
                        </a:rPr>
                        <a:t>MIT Press Direct</a:t>
                      </a:r>
                      <a:r>
                        <a:rPr lang="en-IN" sz="1100" dirty="0"/>
                        <a:t>)</a:t>
                      </a:r>
                    </a:p>
                  </a:txBody>
                  <a:tcPr marL="21307" marR="21307" marT="10654" marB="10654" anchor="ctr"/>
                </a:tc>
                <a:extLst>
                  <a:ext uri="{0D108BD9-81ED-4DB2-BD59-A6C34878D82A}">
                    <a16:rowId xmlns:a16="http://schemas.microsoft.com/office/drawing/2014/main" val="2834767710"/>
                  </a:ext>
                </a:extLst>
              </a:tr>
              <a:tr h="589261">
                <a:tc>
                  <a:txBody>
                    <a:bodyPr/>
                    <a:lstStyle/>
                    <a:p>
                      <a:pPr algn="ctr">
                        <a:buNone/>
                      </a:pPr>
                      <a:r>
                        <a:rPr lang="en-IN" sz="1100" b="1" dirty="0"/>
                        <a:t>4</a:t>
                      </a:r>
                      <a:endParaRPr lang="en-IN" sz="1100" dirty="0"/>
                    </a:p>
                  </a:txBody>
                  <a:tcPr marL="21307" marR="21307" marT="10654" marB="10654" anchor="ctr"/>
                </a:tc>
                <a:tc>
                  <a:txBody>
                    <a:bodyPr/>
                    <a:lstStyle/>
                    <a:p>
                      <a:pPr>
                        <a:buNone/>
                      </a:pPr>
                      <a:r>
                        <a:rPr lang="en-IN" sz="1100" b="1" dirty="0">
                          <a:hlinkClick r:id="rId7"/>
                        </a:rPr>
                        <a:t>Sentence-BERT: Sentence Embeddings using Siamese BERT-Networks</a:t>
                      </a:r>
                      <a:r>
                        <a:rPr lang="en-IN" sz="1100" dirty="0">
                          <a:hlinkClick r:id="rId7"/>
                        </a:rPr>
                        <a:t> </a:t>
                      </a:r>
                      <a:r>
                        <a:rPr lang="en-IN" sz="1100" dirty="0"/>
                        <a:t>(Reimers &amp; </a:t>
                      </a:r>
                      <a:r>
                        <a:rPr lang="en-IN" sz="1100" dirty="0" err="1"/>
                        <a:t>Gurevych</a:t>
                      </a:r>
                      <a:r>
                        <a:rPr lang="en-IN" sz="1100" dirty="0"/>
                        <a:t>, 2019)</a:t>
                      </a:r>
                    </a:p>
                  </a:txBody>
                  <a:tcPr marL="21307" marR="21307" marT="10654" marB="10654" anchor="ctr"/>
                </a:tc>
                <a:tc>
                  <a:txBody>
                    <a:bodyPr/>
                    <a:lstStyle/>
                    <a:p>
                      <a:pPr>
                        <a:buNone/>
                      </a:pPr>
                      <a:r>
                        <a:rPr lang="en-IN" sz="1100"/>
                        <a:t>Generates high-quality sentence embeddings for semantic similarity and retrieval.</a:t>
                      </a:r>
                    </a:p>
                  </a:txBody>
                  <a:tcPr marL="21307" marR="21307" marT="10654" marB="10654" anchor="ctr"/>
                </a:tc>
                <a:tc>
                  <a:txBody>
                    <a:bodyPr/>
                    <a:lstStyle/>
                    <a:p>
                      <a:pPr>
                        <a:buNone/>
                      </a:pPr>
                      <a:r>
                        <a:rPr lang="en-IN" sz="1100"/>
                        <a:t>Does not perform retrieval by itself; requires an external vector index. (</a:t>
                      </a:r>
                      <a:r>
                        <a:rPr lang="en-IN" sz="1100">
                          <a:hlinkClick r:id="rId8" tooltip="Dense Text Retrieval Based on Pretrained Language Models: A Survey | ACM Transactions on Information Systems"/>
                        </a:rPr>
                        <a:t>DOI</a:t>
                      </a:r>
                      <a:r>
                        <a:rPr lang="en-IN" sz="1100"/>
                        <a:t>)</a:t>
                      </a:r>
                    </a:p>
                  </a:txBody>
                  <a:tcPr marL="21307" marR="21307" marT="10654" marB="10654" anchor="ctr"/>
                </a:tc>
                <a:extLst>
                  <a:ext uri="{0D108BD9-81ED-4DB2-BD59-A6C34878D82A}">
                    <a16:rowId xmlns:a16="http://schemas.microsoft.com/office/drawing/2014/main" val="1831226576"/>
                  </a:ext>
                </a:extLst>
              </a:tr>
              <a:tr h="589261">
                <a:tc>
                  <a:txBody>
                    <a:bodyPr/>
                    <a:lstStyle/>
                    <a:p>
                      <a:pPr algn="ctr">
                        <a:buNone/>
                      </a:pPr>
                      <a:r>
                        <a:rPr lang="en-IN" sz="1100" b="1" dirty="0"/>
                        <a:t>5</a:t>
                      </a:r>
                      <a:endParaRPr lang="en-IN" sz="1100" dirty="0"/>
                    </a:p>
                  </a:txBody>
                  <a:tcPr marL="21307" marR="21307" marT="10654" marB="10654" anchor="ctr"/>
                </a:tc>
                <a:tc>
                  <a:txBody>
                    <a:bodyPr/>
                    <a:lstStyle/>
                    <a:p>
                      <a:pPr>
                        <a:buNone/>
                      </a:pPr>
                      <a:r>
                        <a:rPr lang="en-IN" sz="1100" b="1" dirty="0">
                          <a:hlinkClick r:id="rId9"/>
                        </a:rPr>
                        <a:t>FAISS: A Library for Efficient Similarity Search and Clustering of Dense Vectors</a:t>
                      </a:r>
                      <a:r>
                        <a:rPr lang="en-IN" sz="1100" dirty="0">
                          <a:hlinkClick r:id="rId9"/>
                        </a:rPr>
                        <a:t> </a:t>
                      </a:r>
                      <a:r>
                        <a:rPr lang="en-IN" sz="1100" dirty="0"/>
                        <a:t>(Johnson et al., 2017)</a:t>
                      </a:r>
                    </a:p>
                  </a:txBody>
                  <a:tcPr marL="21307" marR="21307" marT="10654" marB="10654" anchor="ctr"/>
                </a:tc>
                <a:tc>
                  <a:txBody>
                    <a:bodyPr/>
                    <a:lstStyle/>
                    <a:p>
                      <a:pPr>
                        <a:buNone/>
                      </a:pPr>
                      <a:r>
                        <a:rPr lang="en-IN" sz="1100"/>
                        <a:t>Provides fast vector similarity search for millions of embeddings.</a:t>
                      </a:r>
                    </a:p>
                  </a:txBody>
                  <a:tcPr marL="21307" marR="21307" marT="10654" marB="10654" anchor="ctr"/>
                </a:tc>
                <a:tc>
                  <a:txBody>
                    <a:bodyPr/>
                    <a:lstStyle/>
                    <a:p>
                      <a:pPr>
                        <a:buNone/>
                      </a:pPr>
                      <a:r>
                        <a:rPr lang="en-IN" sz="1100" dirty="0"/>
                        <a:t>Handles semantic search only and does not perform keyword-based retrieval. (</a:t>
                      </a:r>
                      <a:r>
                        <a:rPr lang="en-IN" sz="1100" dirty="0">
                          <a:hlinkClick r:id="rId6" tooltip="Improving the Domain Adaptation of Retrieval Augmented Generation (RAG) Models for Open Domain Question Answering | Transactions of the Association for Computational Linguistics | MIT Press"/>
                        </a:rPr>
                        <a:t>MIT Press Direct</a:t>
                      </a:r>
                      <a:r>
                        <a:rPr lang="en-IN" sz="1100" dirty="0"/>
                        <a:t>)</a:t>
                      </a:r>
                    </a:p>
                  </a:txBody>
                  <a:tcPr marL="21307" marR="21307" marT="10654" marB="10654" anchor="ctr"/>
                </a:tc>
                <a:extLst>
                  <a:ext uri="{0D108BD9-81ED-4DB2-BD59-A6C34878D82A}">
                    <a16:rowId xmlns:a16="http://schemas.microsoft.com/office/drawing/2014/main" val="824146726"/>
                  </a:ext>
                </a:extLst>
              </a:tr>
            </a:tbl>
          </a:graphicData>
        </a:graphic>
      </p:graphicFrame>
    </p:spTree>
    <p:extLst>
      <p:ext uri="{BB962C8B-B14F-4D97-AF65-F5344CB8AC3E}">
        <p14:creationId xmlns:p14="http://schemas.microsoft.com/office/powerpoint/2010/main" val="3541789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77FF6-5089-4740-E3E4-BDD3A7F57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226DE-D83D-0310-094A-1E0AA8E73F0A}"/>
              </a:ext>
            </a:extLst>
          </p:cNvPr>
          <p:cNvSpPr>
            <a:spLocks noGrp="1"/>
          </p:cNvSpPr>
          <p:nvPr>
            <p:ph type="title"/>
          </p:nvPr>
        </p:nvSpPr>
        <p:spPr>
          <a:xfrm>
            <a:off x="583729" y="148105"/>
            <a:ext cx="7704000" cy="572700"/>
          </a:xfrm>
        </p:spPr>
        <p:txBody>
          <a:bodyPr/>
          <a:lstStyle/>
          <a:p>
            <a:r>
              <a:rPr lang="en-IN" dirty="0"/>
              <a:t>Literature Survey</a:t>
            </a:r>
          </a:p>
        </p:txBody>
      </p:sp>
      <p:pic>
        <p:nvPicPr>
          <p:cNvPr id="6" name="Picture 5" descr="MAPS &amp; DIRECTIONS - Best Private University in Telangana ...">
            <a:extLst>
              <a:ext uri="{FF2B5EF4-FFF2-40B4-BE49-F238E27FC236}">
                <a16:creationId xmlns:a16="http://schemas.microsoft.com/office/drawing/2014/main" id="{14A8C777-3BB0-9D9E-8214-8A3CA2C33382}"/>
              </a:ext>
            </a:extLst>
          </p:cNvPr>
          <p:cNvPicPr>
            <a:picLocks noChangeAspect="1"/>
          </p:cNvPicPr>
          <p:nvPr/>
        </p:nvPicPr>
        <p:blipFill>
          <a:blip r:embed="rId2"/>
          <a:stretch>
            <a:fillRect/>
          </a:stretch>
        </p:blipFill>
        <p:spPr>
          <a:xfrm>
            <a:off x="7533105" y="-188201"/>
            <a:ext cx="1392989" cy="1035386"/>
          </a:xfrm>
          <a:prstGeom prst="rect">
            <a:avLst/>
          </a:prstGeom>
        </p:spPr>
      </p:pic>
      <p:graphicFrame>
        <p:nvGraphicFramePr>
          <p:cNvPr id="3" name="Table 2">
            <a:extLst>
              <a:ext uri="{FF2B5EF4-FFF2-40B4-BE49-F238E27FC236}">
                <a16:creationId xmlns:a16="http://schemas.microsoft.com/office/drawing/2014/main" id="{B913F164-27C8-CCA9-0938-343C7A86410E}"/>
              </a:ext>
            </a:extLst>
          </p:cNvPr>
          <p:cNvGraphicFramePr>
            <a:graphicFrameLocks noGrp="1"/>
          </p:cNvGraphicFramePr>
          <p:nvPr>
            <p:extLst>
              <p:ext uri="{D42A27DB-BD31-4B8C-83A1-F6EECF244321}">
                <p14:modId xmlns:p14="http://schemas.microsoft.com/office/powerpoint/2010/main" val="3145731784"/>
              </p:ext>
            </p:extLst>
          </p:nvPr>
        </p:nvGraphicFramePr>
        <p:xfrm>
          <a:off x="583729" y="847185"/>
          <a:ext cx="7976540" cy="4058926"/>
        </p:xfrm>
        <a:graphic>
          <a:graphicData uri="http://schemas.openxmlformats.org/drawingml/2006/table">
            <a:tbl>
              <a:tblPr>
                <a:tableStyleId>{5DA37D80-6434-44D0-A028-1B22A696006F}</a:tableStyleId>
              </a:tblPr>
              <a:tblGrid>
                <a:gridCol w="499716">
                  <a:extLst>
                    <a:ext uri="{9D8B030D-6E8A-4147-A177-3AD203B41FA5}">
                      <a16:colId xmlns:a16="http://schemas.microsoft.com/office/drawing/2014/main" val="4228308538"/>
                    </a:ext>
                  </a:extLst>
                </a:gridCol>
                <a:gridCol w="2921192">
                  <a:extLst>
                    <a:ext uri="{9D8B030D-6E8A-4147-A177-3AD203B41FA5}">
                      <a16:colId xmlns:a16="http://schemas.microsoft.com/office/drawing/2014/main" val="3643208296"/>
                    </a:ext>
                  </a:extLst>
                </a:gridCol>
                <a:gridCol w="2165577">
                  <a:extLst>
                    <a:ext uri="{9D8B030D-6E8A-4147-A177-3AD203B41FA5}">
                      <a16:colId xmlns:a16="http://schemas.microsoft.com/office/drawing/2014/main" val="152673817"/>
                    </a:ext>
                  </a:extLst>
                </a:gridCol>
                <a:gridCol w="2390055">
                  <a:extLst>
                    <a:ext uri="{9D8B030D-6E8A-4147-A177-3AD203B41FA5}">
                      <a16:colId xmlns:a16="http://schemas.microsoft.com/office/drawing/2014/main" val="2352516295"/>
                    </a:ext>
                  </a:extLst>
                </a:gridCol>
              </a:tblGrid>
              <a:tr h="165450">
                <a:tc>
                  <a:txBody>
                    <a:bodyPr/>
                    <a:lstStyle/>
                    <a:p>
                      <a:pPr>
                        <a:buNone/>
                      </a:pPr>
                      <a:r>
                        <a:rPr lang="en-IN" sz="1100"/>
                        <a:t>S.No</a:t>
                      </a:r>
                    </a:p>
                  </a:txBody>
                  <a:tcPr marL="21307" marR="21307" marT="10654" marB="10654" anchor="ctr"/>
                </a:tc>
                <a:tc>
                  <a:txBody>
                    <a:bodyPr/>
                    <a:lstStyle/>
                    <a:p>
                      <a:pPr>
                        <a:buNone/>
                      </a:pPr>
                      <a:r>
                        <a:rPr lang="en-IN" sz="1100"/>
                        <a:t>Research Paper</a:t>
                      </a:r>
                    </a:p>
                  </a:txBody>
                  <a:tcPr marL="21307" marR="21307" marT="10654" marB="10654" anchor="ctr"/>
                </a:tc>
                <a:tc>
                  <a:txBody>
                    <a:bodyPr/>
                    <a:lstStyle/>
                    <a:p>
                      <a:pPr>
                        <a:buNone/>
                      </a:pPr>
                      <a:r>
                        <a:rPr lang="en-IN" sz="1100"/>
                        <a:t>Key Contribution</a:t>
                      </a:r>
                    </a:p>
                  </a:txBody>
                  <a:tcPr marL="21307" marR="21307" marT="10654" marB="10654" anchor="ctr"/>
                </a:tc>
                <a:tc>
                  <a:txBody>
                    <a:bodyPr/>
                    <a:lstStyle/>
                    <a:p>
                      <a:pPr>
                        <a:buNone/>
                      </a:pPr>
                      <a:r>
                        <a:rPr lang="en-IN" sz="1100"/>
                        <a:t>Limitation</a:t>
                      </a:r>
                    </a:p>
                  </a:txBody>
                  <a:tcPr marL="21307" marR="21307" marT="10654" marB="10654" anchor="ctr"/>
                </a:tc>
                <a:extLst>
                  <a:ext uri="{0D108BD9-81ED-4DB2-BD59-A6C34878D82A}">
                    <a16:rowId xmlns:a16="http://schemas.microsoft.com/office/drawing/2014/main" val="2557725627"/>
                  </a:ext>
                </a:extLst>
              </a:tr>
              <a:tr h="557123">
                <a:tc>
                  <a:txBody>
                    <a:bodyPr/>
                    <a:lstStyle/>
                    <a:p>
                      <a:pPr>
                        <a:buNone/>
                      </a:pPr>
                      <a:r>
                        <a:rPr lang="en-IN" sz="1100" b="1" dirty="0"/>
                        <a:t>6</a:t>
                      </a:r>
                      <a:endParaRPr lang="en-IN" sz="1100" dirty="0"/>
                    </a:p>
                  </a:txBody>
                  <a:tcPr marL="21307" marR="21307" marT="10654" marB="10654" anchor="ctr"/>
                </a:tc>
                <a:tc>
                  <a:txBody>
                    <a:bodyPr/>
                    <a:lstStyle/>
                    <a:p>
                      <a:pPr>
                        <a:buNone/>
                      </a:pPr>
                      <a:r>
                        <a:rPr lang="en-IN" sz="1100" b="1" dirty="0">
                          <a:hlinkClick r:id="rId3"/>
                        </a:rPr>
                        <a:t>The Probabilistic Relevance Framework: BM25 and Beyond</a:t>
                      </a:r>
                      <a:r>
                        <a:rPr lang="en-IN" sz="1100" b="1" dirty="0"/>
                        <a:t>(Stephen Robertson, Hugo Zaragoza)</a:t>
                      </a:r>
                    </a:p>
                  </a:txBody>
                  <a:tcPr marL="21307" marR="21307" marT="10654" marB="10654" anchor="ctr"/>
                </a:tc>
                <a:tc>
                  <a:txBody>
                    <a:bodyPr/>
                    <a:lstStyle/>
                    <a:p>
                      <a:pPr>
                        <a:buNone/>
                      </a:pPr>
                      <a:r>
                        <a:rPr lang="en-IN" sz="1100" dirty="0"/>
                        <a:t>Introduced the probabilistic relevance framework that forms the foundation of the BM25 ranking algorithm for keyword-based information retrieval.</a:t>
                      </a:r>
                    </a:p>
                  </a:txBody>
                  <a:tcPr marL="21307" marR="21307" marT="10654" marB="10654" anchor="ctr"/>
                </a:tc>
                <a:tc>
                  <a:txBody>
                    <a:bodyPr/>
                    <a:lstStyle/>
                    <a:p>
                      <a:pPr>
                        <a:buNone/>
                      </a:pPr>
                      <a:r>
                        <a:rPr lang="en-IN" sz="1100" dirty="0"/>
                        <a:t>BM25 relies on exact keyword matching and cannot understand semantic relationships between different words or phrases</a:t>
                      </a:r>
                    </a:p>
                  </a:txBody>
                  <a:tcPr marL="21307" marR="21307" marT="10654" marB="10654" anchor="ctr"/>
                </a:tc>
                <a:extLst>
                  <a:ext uri="{0D108BD9-81ED-4DB2-BD59-A6C34878D82A}">
                    <a16:rowId xmlns:a16="http://schemas.microsoft.com/office/drawing/2014/main" val="1470241746"/>
                  </a:ext>
                </a:extLst>
              </a:tr>
              <a:tr h="605825">
                <a:tc>
                  <a:txBody>
                    <a:bodyPr/>
                    <a:lstStyle/>
                    <a:p>
                      <a:pPr>
                        <a:buNone/>
                      </a:pPr>
                      <a:r>
                        <a:rPr lang="en-IN" sz="1100" b="1"/>
                        <a:t>7</a:t>
                      </a:r>
                      <a:endParaRPr lang="en-IN" sz="1100"/>
                    </a:p>
                  </a:txBody>
                  <a:tcPr marL="21307" marR="21307" marT="10654" marB="10654" anchor="ctr"/>
                </a:tc>
                <a:tc>
                  <a:txBody>
                    <a:bodyPr/>
                    <a:lstStyle/>
                    <a:p>
                      <a:pPr>
                        <a:buNone/>
                      </a:pPr>
                      <a:r>
                        <a:rPr lang="en-IN" sz="1100" b="1" dirty="0">
                          <a:hlinkClick r:id="rId4"/>
                        </a:rPr>
                        <a:t>BERT-based Dense Retrievers Require Interpolation with BM25 for Effective Passage Retrieval</a:t>
                      </a:r>
                      <a:r>
                        <a:rPr lang="en-IN" sz="1100" dirty="0">
                          <a:hlinkClick r:id="rId4"/>
                        </a:rPr>
                        <a:t> </a:t>
                      </a:r>
                      <a:r>
                        <a:rPr lang="en-IN" sz="1100" dirty="0"/>
                        <a:t>(Luan et al., 2021)</a:t>
                      </a:r>
                    </a:p>
                  </a:txBody>
                  <a:tcPr marL="21307" marR="21307" marT="10654" marB="10654" anchor="ctr"/>
                </a:tc>
                <a:tc>
                  <a:txBody>
                    <a:bodyPr/>
                    <a:lstStyle/>
                    <a:p>
                      <a:pPr>
                        <a:buNone/>
                      </a:pPr>
                      <a:r>
                        <a:rPr lang="en-IN" sz="1100"/>
                        <a:t>Demonstrates that combining BM25 with dense retrieval improves retrieval effectiveness.</a:t>
                      </a:r>
                    </a:p>
                  </a:txBody>
                  <a:tcPr marL="21307" marR="21307" marT="10654" marB="10654" anchor="ctr"/>
                </a:tc>
                <a:tc>
                  <a:txBody>
                    <a:bodyPr/>
                    <a:lstStyle/>
                    <a:p>
                      <a:pPr>
                        <a:buNone/>
                      </a:pPr>
                      <a:r>
                        <a:rPr lang="en-IN" sz="1100"/>
                        <a:t>Uses a fixed hybrid strategy without adaptive query-based retrieval. (</a:t>
                      </a:r>
                      <a:r>
                        <a:rPr lang="en-IN" sz="1100">
                          <a:hlinkClick r:id="rId4" tooltip="BERT-based Dense Retrievers Require Interpolation with BM25 for Effective Passage Retrieval | Proceedings of the 2021 ACM SIGIR International Conference on Theory of Information Retrieval"/>
                        </a:rPr>
                        <a:t>DOI</a:t>
                      </a:r>
                      <a:r>
                        <a:rPr lang="en-IN" sz="1100"/>
                        <a:t>)</a:t>
                      </a:r>
                    </a:p>
                  </a:txBody>
                  <a:tcPr marL="21307" marR="21307" marT="10654" marB="10654" anchor="ctr"/>
                </a:tc>
                <a:extLst>
                  <a:ext uri="{0D108BD9-81ED-4DB2-BD59-A6C34878D82A}">
                    <a16:rowId xmlns:a16="http://schemas.microsoft.com/office/drawing/2014/main" val="2871903721"/>
                  </a:ext>
                </a:extLst>
              </a:tr>
              <a:tr h="752618">
                <a:tc>
                  <a:txBody>
                    <a:bodyPr/>
                    <a:lstStyle/>
                    <a:p>
                      <a:pPr>
                        <a:buNone/>
                      </a:pPr>
                      <a:r>
                        <a:rPr lang="en-IN" sz="1100" b="1"/>
                        <a:t>8</a:t>
                      </a:r>
                      <a:endParaRPr lang="en-IN" sz="1100"/>
                    </a:p>
                  </a:txBody>
                  <a:tcPr marL="21307" marR="21307" marT="10654" marB="10654" anchor="ctr"/>
                </a:tc>
                <a:tc>
                  <a:txBody>
                    <a:bodyPr/>
                    <a:lstStyle/>
                    <a:p>
                      <a:pPr>
                        <a:buNone/>
                      </a:pPr>
                      <a:r>
                        <a:rPr lang="en-IN" sz="1100" b="1" dirty="0">
                          <a:hlinkClick r:id="rId5"/>
                        </a:rPr>
                        <a:t>Sparse, Dense, and Attentional Representations for Text Retrieval</a:t>
                      </a:r>
                      <a:r>
                        <a:rPr lang="en-IN" sz="1100" dirty="0">
                          <a:hlinkClick r:id="rId5"/>
                        </a:rPr>
                        <a:t> </a:t>
                      </a:r>
                      <a:r>
                        <a:rPr lang="en-IN" sz="1100" dirty="0"/>
                        <a:t>(Luan et al., 2021)</a:t>
                      </a:r>
                    </a:p>
                  </a:txBody>
                  <a:tcPr marL="21307" marR="21307" marT="10654" marB="10654" anchor="ctr"/>
                </a:tc>
                <a:tc>
                  <a:txBody>
                    <a:bodyPr/>
                    <a:lstStyle/>
                    <a:p>
                      <a:pPr>
                        <a:buNone/>
                      </a:pPr>
                      <a:r>
                        <a:rPr lang="en-IN" sz="1100"/>
                        <a:t>Compares sparse, dense, and hybrid retrieval methods for text search.</a:t>
                      </a:r>
                    </a:p>
                  </a:txBody>
                  <a:tcPr marL="21307" marR="21307" marT="10654" marB="10654" anchor="ctr"/>
                </a:tc>
                <a:tc>
                  <a:txBody>
                    <a:bodyPr/>
                    <a:lstStyle/>
                    <a:p>
                      <a:pPr>
                        <a:buNone/>
                      </a:pPr>
                      <a:r>
                        <a:rPr lang="en-IN" sz="1100"/>
                        <a:t>Primarily focuses on retrieval accuracy rather than explainability or document intelligence. (</a:t>
                      </a:r>
                      <a:r>
                        <a:rPr lang="en-IN" sz="1100">
                          <a:hlinkClick r:id="rId5" tooltip="Sparse, Dense, and Attentional Representations for Text Retrieval | Transactions of the Association for Computational Linguistics | MIT Press"/>
                        </a:rPr>
                        <a:t>MIT Press Direct</a:t>
                      </a:r>
                      <a:r>
                        <a:rPr lang="en-IN" sz="1100"/>
                        <a:t>)</a:t>
                      </a:r>
                    </a:p>
                  </a:txBody>
                  <a:tcPr marL="21307" marR="21307" marT="10654" marB="10654" anchor="ctr"/>
                </a:tc>
                <a:extLst>
                  <a:ext uri="{0D108BD9-81ED-4DB2-BD59-A6C34878D82A}">
                    <a16:rowId xmlns:a16="http://schemas.microsoft.com/office/drawing/2014/main" val="1418608301"/>
                  </a:ext>
                </a:extLst>
              </a:tr>
              <a:tr h="752618">
                <a:tc>
                  <a:txBody>
                    <a:bodyPr/>
                    <a:lstStyle/>
                    <a:p>
                      <a:pPr>
                        <a:buNone/>
                      </a:pPr>
                      <a:r>
                        <a:rPr lang="en-IN" sz="1100" b="1"/>
                        <a:t>9</a:t>
                      </a:r>
                      <a:endParaRPr lang="en-IN" sz="1100"/>
                    </a:p>
                  </a:txBody>
                  <a:tcPr marL="21307" marR="21307" marT="10654" marB="10654" anchor="ctr"/>
                </a:tc>
                <a:tc>
                  <a:txBody>
                    <a:bodyPr/>
                    <a:lstStyle/>
                    <a:p>
                      <a:pPr>
                        <a:buNone/>
                      </a:pPr>
                      <a:r>
                        <a:rPr lang="en-IN" sz="1100" b="1" dirty="0">
                          <a:hlinkClick r:id="rId6"/>
                        </a:rPr>
                        <a:t>Dense Text Retrieval Based on Pretrained Language Models: A Survey</a:t>
                      </a:r>
                      <a:r>
                        <a:rPr lang="en-IN" sz="1100" dirty="0">
                          <a:hlinkClick r:id="rId6"/>
                        </a:rPr>
                        <a:t> </a:t>
                      </a:r>
                      <a:r>
                        <a:rPr lang="en-IN" sz="1100" dirty="0"/>
                        <a:t>(2024)</a:t>
                      </a:r>
                    </a:p>
                  </a:txBody>
                  <a:tcPr marL="21307" marR="21307" marT="10654" marB="10654" anchor="ctr"/>
                </a:tc>
                <a:tc>
                  <a:txBody>
                    <a:bodyPr/>
                    <a:lstStyle/>
                    <a:p>
                      <a:pPr>
                        <a:buNone/>
                      </a:pPr>
                      <a:r>
                        <a:rPr lang="en-IN" sz="1100"/>
                        <a:t>Comprehensive survey of dense retrieval techniques, embedding models, and evaluation methods.</a:t>
                      </a:r>
                    </a:p>
                  </a:txBody>
                  <a:tcPr marL="21307" marR="21307" marT="10654" marB="10654" anchor="ctr"/>
                </a:tc>
                <a:tc>
                  <a:txBody>
                    <a:bodyPr/>
                    <a:lstStyle/>
                    <a:p>
                      <a:pPr>
                        <a:buNone/>
                      </a:pPr>
                      <a:r>
                        <a:rPr lang="en-IN" sz="1100"/>
                        <a:t>Survey paper; does not propose a unified adaptive retrieval framework. (</a:t>
                      </a:r>
                      <a:r>
                        <a:rPr lang="en-IN" sz="1100">
                          <a:hlinkClick r:id="rId6" tooltip="Dense Text Retrieval Based on Pretrained Language Models: A Survey | ACM Transactions on Information Systems"/>
                        </a:rPr>
                        <a:t>DOI</a:t>
                      </a:r>
                      <a:r>
                        <a:rPr lang="en-IN" sz="1100"/>
                        <a:t>)</a:t>
                      </a:r>
                    </a:p>
                  </a:txBody>
                  <a:tcPr marL="21307" marR="21307" marT="10654" marB="10654" anchor="ctr"/>
                </a:tc>
                <a:extLst>
                  <a:ext uri="{0D108BD9-81ED-4DB2-BD59-A6C34878D82A}">
                    <a16:rowId xmlns:a16="http://schemas.microsoft.com/office/drawing/2014/main" val="1694952283"/>
                  </a:ext>
                </a:extLst>
              </a:tr>
              <a:tr h="899409">
                <a:tc>
                  <a:txBody>
                    <a:bodyPr/>
                    <a:lstStyle/>
                    <a:p>
                      <a:pPr>
                        <a:buNone/>
                      </a:pPr>
                      <a:r>
                        <a:rPr lang="en-IN" sz="1100" b="1"/>
                        <a:t>10</a:t>
                      </a:r>
                      <a:endParaRPr lang="en-IN" sz="1100"/>
                    </a:p>
                  </a:txBody>
                  <a:tcPr marL="21307" marR="21307" marT="10654" marB="10654" anchor="ctr"/>
                </a:tc>
                <a:tc>
                  <a:txBody>
                    <a:bodyPr/>
                    <a:lstStyle/>
                    <a:p>
                      <a:pPr>
                        <a:buNone/>
                      </a:pPr>
                      <a:r>
                        <a:rPr lang="en-IN" sz="1100" b="1" dirty="0">
                          <a:hlinkClick r:id="rId7"/>
                        </a:rPr>
                        <a:t>Improving the Domain Adaptation of Retrieval-Augmented Generation Models for Open-Domain Question Answering</a:t>
                      </a:r>
                      <a:r>
                        <a:rPr lang="en-IN" sz="1100" dirty="0">
                          <a:hlinkClick r:id="rId7"/>
                        </a:rPr>
                        <a:t> </a:t>
                      </a:r>
                      <a:r>
                        <a:rPr lang="en-IN" sz="1100" dirty="0"/>
                        <a:t>(TACL)</a:t>
                      </a:r>
                    </a:p>
                  </a:txBody>
                  <a:tcPr marL="21307" marR="21307" marT="10654" marB="10654" anchor="ctr"/>
                </a:tc>
                <a:tc>
                  <a:txBody>
                    <a:bodyPr/>
                    <a:lstStyle/>
                    <a:p>
                      <a:pPr>
                        <a:buNone/>
                      </a:pPr>
                      <a:r>
                        <a:rPr lang="en-IN" sz="1100"/>
                        <a:t>Improves RAG performance on domain-specific knowledge bases.</a:t>
                      </a:r>
                    </a:p>
                  </a:txBody>
                  <a:tcPr marL="21307" marR="21307" marT="10654" marB="10654" anchor="ctr"/>
                </a:tc>
                <a:tc>
                  <a:txBody>
                    <a:bodyPr/>
                    <a:lstStyle/>
                    <a:p>
                      <a:pPr>
                        <a:buNone/>
                      </a:pPr>
                      <a:r>
                        <a:rPr lang="en-IN" sz="1100" dirty="0"/>
                        <a:t>Focuses on domain adaptation rather than explainability, contradiction detection, or evidence analysis. (</a:t>
                      </a:r>
                      <a:r>
                        <a:rPr lang="en-IN" sz="1100" dirty="0">
                          <a:hlinkClick r:id="rId7" tooltip="Improving the Domain Adaptation of Retrieval Augmented Generation (RAG) Models for Open Domain Question Answering | Transactions of the Association for Computational Linguistics | MIT Press"/>
                        </a:rPr>
                        <a:t>MIT Press Direct</a:t>
                      </a:r>
                      <a:r>
                        <a:rPr lang="en-IN" sz="1100" dirty="0"/>
                        <a:t>)</a:t>
                      </a:r>
                    </a:p>
                  </a:txBody>
                  <a:tcPr marL="21307" marR="21307" marT="10654" marB="10654" anchor="ctr"/>
                </a:tc>
                <a:extLst>
                  <a:ext uri="{0D108BD9-81ED-4DB2-BD59-A6C34878D82A}">
                    <a16:rowId xmlns:a16="http://schemas.microsoft.com/office/drawing/2014/main" val="2750395920"/>
                  </a:ext>
                </a:extLst>
              </a:tr>
            </a:tbl>
          </a:graphicData>
        </a:graphic>
      </p:graphicFrame>
    </p:spTree>
    <p:extLst>
      <p:ext uri="{BB962C8B-B14F-4D97-AF65-F5344CB8AC3E}">
        <p14:creationId xmlns:p14="http://schemas.microsoft.com/office/powerpoint/2010/main" val="3213369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FFB9ED73-8503-4510-A7F5-CBC88D095FDF}"/>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F6570E06-952A-B432-DF73-DFA9B14B8D61}"/>
              </a:ext>
            </a:extLst>
          </p:cNvPr>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a:extLst>
              <a:ext uri="{FF2B5EF4-FFF2-40B4-BE49-F238E27FC236}">
                <a16:creationId xmlns:a16="http://schemas.microsoft.com/office/drawing/2014/main" id="{0D29B8B2-3511-D466-69ED-CA9EC09499FF}"/>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55FF191C-00DF-A9D9-0A7A-7B7AE8B00319}"/>
                </a:ext>
              </a:extLst>
            </p:cNvPr>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ED45799C-88AF-53D2-81DE-F4966CF0A901}"/>
                </a:ext>
              </a:extLst>
            </p:cNvPr>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pic>
        <p:nvPicPr>
          <p:cNvPr id="3" name="Picture 2" descr="MAPS &amp; DIRECTIONS - Best Private University in Telangana ...">
            <a:extLst>
              <a:ext uri="{FF2B5EF4-FFF2-40B4-BE49-F238E27FC236}">
                <a16:creationId xmlns:a16="http://schemas.microsoft.com/office/drawing/2014/main" id="{1DDD1CE3-4F3F-44E3-86EA-C13935D3B295}"/>
              </a:ext>
            </a:extLst>
          </p:cNvPr>
          <p:cNvPicPr>
            <a:picLocks noChangeAspect="1"/>
          </p:cNvPicPr>
          <p:nvPr/>
        </p:nvPicPr>
        <p:blipFill>
          <a:blip r:embed="rId4"/>
          <a:stretch>
            <a:fillRect/>
          </a:stretch>
        </p:blipFill>
        <p:spPr>
          <a:xfrm>
            <a:off x="7681788" y="4038414"/>
            <a:ext cx="1392989" cy="1035386"/>
          </a:xfrm>
          <a:prstGeom prst="rect">
            <a:avLst/>
          </a:prstGeom>
        </p:spPr>
      </p:pic>
      <p:graphicFrame>
        <p:nvGraphicFramePr>
          <p:cNvPr id="2" name="Table 1">
            <a:extLst>
              <a:ext uri="{FF2B5EF4-FFF2-40B4-BE49-F238E27FC236}">
                <a16:creationId xmlns:a16="http://schemas.microsoft.com/office/drawing/2014/main" id="{B1B6CE0B-5091-4327-74BF-A944AFB2C754}"/>
              </a:ext>
            </a:extLst>
          </p:cNvPr>
          <p:cNvGraphicFramePr>
            <a:graphicFrameLocks noGrp="1"/>
          </p:cNvGraphicFramePr>
          <p:nvPr>
            <p:extLst>
              <p:ext uri="{D42A27DB-BD31-4B8C-83A1-F6EECF244321}">
                <p14:modId xmlns:p14="http://schemas.microsoft.com/office/powerpoint/2010/main" val="452841677"/>
              </p:ext>
            </p:extLst>
          </p:nvPr>
        </p:nvGraphicFramePr>
        <p:xfrm>
          <a:off x="1182191" y="879299"/>
          <a:ext cx="6663966" cy="3502788"/>
        </p:xfrm>
        <a:graphic>
          <a:graphicData uri="http://schemas.openxmlformats.org/drawingml/2006/table">
            <a:tbl>
              <a:tblPr>
                <a:tableStyleId>{B0EECA99-BD5E-4410-91FC-E7E7DC76D57C}</a:tableStyleId>
              </a:tblPr>
              <a:tblGrid>
                <a:gridCol w="3331983">
                  <a:extLst>
                    <a:ext uri="{9D8B030D-6E8A-4147-A177-3AD203B41FA5}">
                      <a16:colId xmlns:a16="http://schemas.microsoft.com/office/drawing/2014/main" val="3561751314"/>
                    </a:ext>
                  </a:extLst>
                </a:gridCol>
                <a:gridCol w="3331983">
                  <a:extLst>
                    <a:ext uri="{9D8B030D-6E8A-4147-A177-3AD203B41FA5}">
                      <a16:colId xmlns:a16="http://schemas.microsoft.com/office/drawing/2014/main" val="2498060632"/>
                    </a:ext>
                  </a:extLst>
                </a:gridCol>
              </a:tblGrid>
              <a:tr h="332467">
                <a:tc>
                  <a:txBody>
                    <a:bodyPr/>
                    <a:lstStyle/>
                    <a:p>
                      <a:pPr>
                        <a:buNone/>
                      </a:pPr>
                      <a:r>
                        <a:rPr lang="en-IN" sz="1200" b="1"/>
                        <a:t>Research Gap Identified from Literature</a:t>
                      </a:r>
                      <a:endParaRPr lang="en-IN" sz="1200"/>
                    </a:p>
                  </a:txBody>
                  <a:tcPr marL="39879" marR="39879" marT="19939" marB="19939" anchor="ctr"/>
                </a:tc>
                <a:tc>
                  <a:txBody>
                    <a:bodyPr/>
                    <a:lstStyle/>
                    <a:p>
                      <a:pPr>
                        <a:buNone/>
                      </a:pPr>
                      <a:r>
                        <a:rPr lang="en-IN" sz="1200" b="1"/>
                        <a:t>Our Proposed Solution</a:t>
                      </a:r>
                      <a:endParaRPr lang="en-IN" sz="1200"/>
                    </a:p>
                  </a:txBody>
                  <a:tcPr marL="39879" marR="39879" marT="19939" marB="19939" anchor="ctr"/>
                </a:tc>
                <a:extLst>
                  <a:ext uri="{0D108BD9-81ED-4DB2-BD59-A6C34878D82A}">
                    <a16:rowId xmlns:a16="http://schemas.microsoft.com/office/drawing/2014/main" val="98897663"/>
                  </a:ext>
                </a:extLst>
              </a:tr>
              <a:tr h="765431">
                <a:tc>
                  <a:txBody>
                    <a:bodyPr/>
                    <a:lstStyle/>
                    <a:p>
                      <a:pPr>
                        <a:buNone/>
                      </a:pPr>
                      <a:r>
                        <a:rPr lang="en-IN" sz="1200"/>
                        <a:t>Most existing works use </a:t>
                      </a:r>
                      <a:r>
                        <a:rPr lang="en-IN" sz="1200" b="1"/>
                        <a:t>either keyword retrieval (BM25) or semantic retrieval (Dense Retrieval)</a:t>
                      </a:r>
                      <a:r>
                        <a:rPr lang="en-IN" sz="1200"/>
                        <a:t> independently.</a:t>
                      </a:r>
                    </a:p>
                  </a:txBody>
                  <a:tcPr marL="39879" marR="39879" marT="19939" marB="19939" anchor="ctr"/>
                </a:tc>
                <a:tc>
                  <a:txBody>
                    <a:bodyPr/>
                    <a:lstStyle/>
                    <a:p>
                      <a:pPr>
                        <a:buNone/>
                      </a:pPr>
                      <a:r>
                        <a:rPr lang="en-IN" sz="1200" b="1"/>
                        <a:t>Adaptive Hybrid Retrieval</a:t>
                      </a:r>
                      <a:r>
                        <a:rPr lang="en-IN" sz="1200"/>
                        <a:t> combines BM25 and FAISS to leverage both lexical and semantic search.</a:t>
                      </a:r>
                    </a:p>
                  </a:txBody>
                  <a:tcPr marL="39879" marR="39879" marT="19939" marB="19939" anchor="ctr"/>
                </a:tc>
                <a:extLst>
                  <a:ext uri="{0D108BD9-81ED-4DB2-BD59-A6C34878D82A}">
                    <a16:rowId xmlns:a16="http://schemas.microsoft.com/office/drawing/2014/main" val="3206974385"/>
                  </a:ext>
                </a:extLst>
              </a:tr>
              <a:tr h="639336">
                <a:tc>
                  <a:txBody>
                    <a:bodyPr/>
                    <a:lstStyle/>
                    <a:p>
                      <a:pPr>
                        <a:buNone/>
                      </a:pPr>
                      <a:r>
                        <a:rPr lang="en-IN" sz="1200"/>
                        <a:t>Existing RAG frameworks primarily focus on </a:t>
                      </a:r>
                      <a:r>
                        <a:rPr lang="en-IN" sz="1200" b="1"/>
                        <a:t>accurate answer generation</a:t>
                      </a:r>
                      <a:r>
                        <a:rPr lang="en-IN" sz="1200"/>
                        <a:t> rather than explaining how the answer was retrieved.</a:t>
                      </a:r>
                    </a:p>
                  </a:txBody>
                  <a:tcPr marL="39879" marR="39879" marT="19939" marB="19939" anchor="ctr"/>
                </a:tc>
                <a:tc>
                  <a:txBody>
                    <a:bodyPr/>
                    <a:lstStyle/>
                    <a:p>
                      <a:pPr>
                        <a:buNone/>
                      </a:pPr>
                      <a:r>
                        <a:rPr lang="en-IN" sz="1200" b="1"/>
                        <a:t>Explainable Evidence Navigation</a:t>
                      </a:r>
                      <a:r>
                        <a:rPr lang="en-IN" sz="1200"/>
                        <a:t> displays highlighted source passages used to generate the answer.</a:t>
                      </a:r>
                    </a:p>
                  </a:txBody>
                  <a:tcPr marL="39879" marR="39879" marT="19939" marB="19939" anchor="ctr"/>
                </a:tc>
                <a:extLst>
                  <a:ext uri="{0D108BD9-81ED-4DB2-BD59-A6C34878D82A}">
                    <a16:rowId xmlns:a16="http://schemas.microsoft.com/office/drawing/2014/main" val="2244792466"/>
                  </a:ext>
                </a:extLst>
              </a:tr>
              <a:tr h="587298">
                <a:tc>
                  <a:txBody>
                    <a:bodyPr/>
                    <a:lstStyle/>
                    <a:p>
                      <a:pPr>
                        <a:buNone/>
                      </a:pPr>
                      <a:r>
                        <a:rPr lang="en-IN" sz="1200" dirty="0"/>
                        <a:t>Current retrieval systems have </a:t>
                      </a:r>
                      <a:r>
                        <a:rPr lang="en-IN" sz="1200" b="1" dirty="0"/>
                        <a:t>limited support for adaptive retrieval strategy selection</a:t>
                      </a:r>
                      <a:r>
                        <a:rPr lang="en-IN" sz="1200" dirty="0"/>
                        <a:t> based on different query types.</a:t>
                      </a:r>
                    </a:p>
                  </a:txBody>
                  <a:tcPr marL="39879" marR="39879" marT="19939" marB="19939" anchor="ctr"/>
                </a:tc>
                <a:tc>
                  <a:txBody>
                    <a:bodyPr/>
                    <a:lstStyle/>
                    <a:p>
                      <a:pPr>
                        <a:buNone/>
                      </a:pPr>
                      <a:r>
                        <a:rPr lang="en-IN" sz="1200" b="1"/>
                        <a:t>Adaptive Retrieval Engine</a:t>
                      </a:r>
                      <a:r>
                        <a:rPr lang="en-IN" sz="1200"/>
                        <a:t> dynamically decides whether to use BM25, FAISS, or both depending on the query.</a:t>
                      </a:r>
                    </a:p>
                  </a:txBody>
                  <a:tcPr marL="39879" marR="39879" marT="19939" marB="19939" anchor="ctr"/>
                </a:tc>
                <a:extLst>
                  <a:ext uri="{0D108BD9-81ED-4DB2-BD59-A6C34878D82A}">
                    <a16:rowId xmlns:a16="http://schemas.microsoft.com/office/drawing/2014/main" val="1576892695"/>
                  </a:ext>
                </a:extLst>
              </a:tr>
              <a:tr h="519170">
                <a:tc>
                  <a:txBody>
                    <a:bodyPr/>
                    <a:lstStyle/>
                    <a:p>
                      <a:pPr>
                        <a:buNone/>
                      </a:pPr>
                      <a:r>
                        <a:rPr lang="en-IN" sz="1200" dirty="0"/>
                        <a:t>Existing document QA systems mainly retrieve information but perform </a:t>
                      </a:r>
                      <a:r>
                        <a:rPr lang="en-IN" sz="1200" b="1" dirty="0"/>
                        <a:t>limited cross-document reasoning</a:t>
                      </a:r>
                      <a:r>
                        <a:rPr lang="en-IN" sz="1200" dirty="0"/>
                        <a:t>.</a:t>
                      </a:r>
                    </a:p>
                  </a:txBody>
                  <a:tcPr marL="39879" marR="39879" marT="19939" marB="19939" anchor="ctr"/>
                </a:tc>
                <a:tc>
                  <a:txBody>
                    <a:bodyPr/>
                    <a:lstStyle/>
                    <a:p>
                      <a:pPr>
                        <a:buNone/>
                      </a:pPr>
                      <a:r>
                        <a:rPr lang="en-IN" sz="1200" b="1"/>
                        <a:t>Cross-Document Intelligence</a:t>
                      </a:r>
                      <a:r>
                        <a:rPr lang="en-IN" sz="1200"/>
                        <a:t> analyzes information across multiple uploaded documents.</a:t>
                      </a:r>
                    </a:p>
                  </a:txBody>
                  <a:tcPr marL="39879" marR="39879" marT="19939" marB="19939" anchor="ctr"/>
                </a:tc>
                <a:extLst>
                  <a:ext uri="{0D108BD9-81ED-4DB2-BD59-A6C34878D82A}">
                    <a16:rowId xmlns:a16="http://schemas.microsoft.com/office/drawing/2014/main" val="3174731913"/>
                  </a:ext>
                </a:extLst>
              </a:tr>
              <a:tr h="361833">
                <a:tc>
                  <a:txBody>
                    <a:bodyPr/>
                    <a:lstStyle/>
                    <a:p>
                      <a:pPr>
                        <a:buNone/>
                      </a:pPr>
                      <a:r>
                        <a:rPr lang="en-IN" sz="1200" dirty="0"/>
                        <a:t>Most research focuses on </a:t>
                      </a:r>
                      <a:r>
                        <a:rPr lang="en-IN" sz="1200" b="1" dirty="0"/>
                        <a:t>single-document retrieval</a:t>
                      </a:r>
                      <a:r>
                        <a:rPr lang="en-IN" sz="1200" dirty="0"/>
                        <a:t> or open-domain datasets rather than enterprise document collections.</a:t>
                      </a:r>
                    </a:p>
                  </a:txBody>
                  <a:tcPr marL="39879" marR="39879" marT="19939" marB="19939" anchor="ctr"/>
                </a:tc>
                <a:tc>
                  <a:txBody>
                    <a:bodyPr/>
                    <a:lstStyle/>
                    <a:p>
                      <a:pPr>
                        <a:buNone/>
                      </a:pPr>
                      <a:r>
                        <a:rPr lang="en-IN" sz="1200" dirty="0"/>
                        <a:t>Supports </a:t>
                      </a:r>
                      <a:r>
                        <a:rPr lang="en-IN" sz="1200" b="1" dirty="0"/>
                        <a:t>multiple enterprise documents</a:t>
                      </a:r>
                      <a:r>
                        <a:rPr lang="en-IN" sz="1200" dirty="0"/>
                        <a:t> including PDFs, DOCX, TXT, reports, manuals, and research papers.</a:t>
                      </a:r>
                    </a:p>
                  </a:txBody>
                  <a:tcPr marL="39879" marR="39879" marT="19939" marB="19939" anchor="ctr"/>
                </a:tc>
                <a:extLst>
                  <a:ext uri="{0D108BD9-81ED-4DB2-BD59-A6C34878D82A}">
                    <a16:rowId xmlns:a16="http://schemas.microsoft.com/office/drawing/2014/main" val="1011002269"/>
                  </a:ext>
                </a:extLst>
              </a:tr>
            </a:tbl>
          </a:graphicData>
        </a:graphic>
      </p:graphicFrame>
    </p:spTree>
    <p:extLst>
      <p:ext uri="{BB962C8B-B14F-4D97-AF65-F5344CB8AC3E}">
        <p14:creationId xmlns:p14="http://schemas.microsoft.com/office/powerpoint/2010/main" val="172956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A5896305-39DC-04B6-9D4C-AE9D25C6AB44}"/>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B13FF715-BB74-18A7-0319-3E8546B28E1E}"/>
              </a:ext>
            </a:extLst>
          </p:cNvPr>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a:extLst>
              <a:ext uri="{FF2B5EF4-FFF2-40B4-BE49-F238E27FC236}">
                <a16:creationId xmlns:a16="http://schemas.microsoft.com/office/drawing/2014/main" id="{BFA9A059-7856-4269-FC07-04EA803CD45E}"/>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5B10B6BD-2F12-3C3E-6FA7-3632A6F1D41A}"/>
                </a:ext>
              </a:extLst>
            </p:cNvPr>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27BF6AF1-A358-8207-60DE-AAD348495EC9}"/>
                </a:ext>
              </a:extLst>
            </p:cNvPr>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pic>
        <p:nvPicPr>
          <p:cNvPr id="3" name="Picture 2" descr="MAPS &amp; DIRECTIONS - Best Private University in Telangana ...">
            <a:extLst>
              <a:ext uri="{FF2B5EF4-FFF2-40B4-BE49-F238E27FC236}">
                <a16:creationId xmlns:a16="http://schemas.microsoft.com/office/drawing/2014/main" id="{9EAF31D2-A03B-BEC2-AF49-D10801B71C73}"/>
              </a:ext>
            </a:extLst>
          </p:cNvPr>
          <p:cNvPicPr>
            <a:picLocks noChangeAspect="1"/>
          </p:cNvPicPr>
          <p:nvPr/>
        </p:nvPicPr>
        <p:blipFill>
          <a:blip r:embed="rId4"/>
          <a:stretch>
            <a:fillRect/>
          </a:stretch>
        </p:blipFill>
        <p:spPr>
          <a:xfrm>
            <a:off x="7681788" y="4038414"/>
            <a:ext cx="1392989" cy="1035386"/>
          </a:xfrm>
          <a:prstGeom prst="rect">
            <a:avLst/>
          </a:prstGeom>
        </p:spPr>
      </p:pic>
      <p:graphicFrame>
        <p:nvGraphicFramePr>
          <p:cNvPr id="4" name="Table 3">
            <a:extLst>
              <a:ext uri="{FF2B5EF4-FFF2-40B4-BE49-F238E27FC236}">
                <a16:creationId xmlns:a16="http://schemas.microsoft.com/office/drawing/2014/main" id="{5020D518-F6B9-7C1E-65AA-A79F543449A4}"/>
              </a:ext>
            </a:extLst>
          </p:cNvPr>
          <p:cNvGraphicFramePr>
            <a:graphicFrameLocks noGrp="1"/>
          </p:cNvGraphicFramePr>
          <p:nvPr>
            <p:extLst>
              <p:ext uri="{D42A27DB-BD31-4B8C-83A1-F6EECF244321}">
                <p14:modId xmlns:p14="http://schemas.microsoft.com/office/powerpoint/2010/main" val="2708253363"/>
              </p:ext>
            </p:extLst>
          </p:nvPr>
        </p:nvGraphicFramePr>
        <p:xfrm>
          <a:off x="1401390" y="1025913"/>
          <a:ext cx="6211174" cy="3362059"/>
        </p:xfrm>
        <a:graphic>
          <a:graphicData uri="http://schemas.openxmlformats.org/drawingml/2006/table">
            <a:tbl>
              <a:tblPr>
                <a:tableStyleId>{B0EECA99-BD5E-4410-91FC-E7E7DC76D57C}</a:tableStyleId>
              </a:tblPr>
              <a:tblGrid>
                <a:gridCol w="3105587">
                  <a:extLst>
                    <a:ext uri="{9D8B030D-6E8A-4147-A177-3AD203B41FA5}">
                      <a16:colId xmlns:a16="http://schemas.microsoft.com/office/drawing/2014/main" val="2273585454"/>
                    </a:ext>
                  </a:extLst>
                </a:gridCol>
                <a:gridCol w="3105587">
                  <a:extLst>
                    <a:ext uri="{9D8B030D-6E8A-4147-A177-3AD203B41FA5}">
                      <a16:colId xmlns:a16="http://schemas.microsoft.com/office/drawing/2014/main" val="3955594837"/>
                    </a:ext>
                  </a:extLst>
                </a:gridCol>
              </a:tblGrid>
              <a:tr h="236589">
                <a:tc>
                  <a:txBody>
                    <a:bodyPr/>
                    <a:lstStyle/>
                    <a:p>
                      <a:pPr>
                        <a:buNone/>
                      </a:pPr>
                      <a:r>
                        <a:rPr lang="en-IN" sz="1200" b="1"/>
                        <a:t>Research Gap Identified from Literature</a:t>
                      </a:r>
                      <a:endParaRPr lang="en-IN" sz="1200"/>
                    </a:p>
                  </a:txBody>
                  <a:tcPr marL="39879" marR="39879" marT="19939" marB="19939" anchor="ctr"/>
                </a:tc>
                <a:tc>
                  <a:txBody>
                    <a:bodyPr/>
                    <a:lstStyle/>
                    <a:p>
                      <a:pPr>
                        <a:buNone/>
                      </a:pPr>
                      <a:r>
                        <a:rPr lang="en-IN" sz="1200" b="1"/>
                        <a:t>Our Proposed Solution</a:t>
                      </a:r>
                      <a:endParaRPr lang="en-IN" sz="1200"/>
                    </a:p>
                  </a:txBody>
                  <a:tcPr marL="39879" marR="39879" marT="19939" marB="19939" anchor="ctr"/>
                </a:tc>
                <a:extLst>
                  <a:ext uri="{0D108BD9-81ED-4DB2-BD59-A6C34878D82A}">
                    <a16:rowId xmlns:a16="http://schemas.microsoft.com/office/drawing/2014/main" val="3134497908"/>
                  </a:ext>
                </a:extLst>
              </a:tr>
              <a:tr h="567817">
                <a:tc>
                  <a:txBody>
                    <a:bodyPr/>
                    <a:lstStyle/>
                    <a:p>
                      <a:pPr>
                        <a:buNone/>
                      </a:pPr>
                      <a:r>
                        <a:rPr lang="en-IN" sz="1200"/>
                        <a:t>Existing approaches rarely identify </a:t>
                      </a:r>
                      <a:r>
                        <a:rPr lang="en-IN" sz="1200" b="1"/>
                        <a:t>contradictory information</a:t>
                      </a:r>
                      <a:r>
                        <a:rPr lang="en-IN" sz="1200"/>
                        <a:t> across different documents.</a:t>
                      </a:r>
                    </a:p>
                  </a:txBody>
                  <a:tcPr marL="39879" marR="39879" marT="19939" marB="19939" anchor="ctr"/>
                </a:tc>
                <a:tc>
                  <a:txBody>
                    <a:bodyPr/>
                    <a:lstStyle/>
                    <a:p>
                      <a:pPr>
                        <a:buNone/>
                      </a:pPr>
                      <a:r>
                        <a:rPr lang="en-IN" sz="1200" b="1" dirty="0"/>
                        <a:t>Contradiction Detection Module</a:t>
                      </a:r>
                      <a:r>
                        <a:rPr lang="en-IN" sz="1200" dirty="0"/>
                        <a:t> highlights conflicting information from multiple sources.</a:t>
                      </a:r>
                    </a:p>
                  </a:txBody>
                  <a:tcPr marL="39879" marR="39879" marT="19939" marB="19939" anchor="ctr"/>
                </a:tc>
                <a:extLst>
                  <a:ext uri="{0D108BD9-81ED-4DB2-BD59-A6C34878D82A}">
                    <a16:rowId xmlns:a16="http://schemas.microsoft.com/office/drawing/2014/main" val="3410954835"/>
                  </a:ext>
                </a:extLst>
              </a:tr>
              <a:tr h="567817">
                <a:tc>
                  <a:txBody>
                    <a:bodyPr/>
                    <a:lstStyle/>
                    <a:p>
                      <a:pPr>
                        <a:buNone/>
                      </a:pPr>
                      <a:r>
                        <a:rPr lang="en-IN" sz="1200"/>
                        <a:t>Existing retrieval methods provide citations but </a:t>
                      </a:r>
                      <a:r>
                        <a:rPr lang="en-IN" sz="1200" b="1"/>
                        <a:t>do not estimate how strongly the evidence supports the answer</a:t>
                      </a:r>
                      <a:r>
                        <a:rPr lang="en-IN" sz="1200"/>
                        <a:t>.</a:t>
                      </a:r>
                    </a:p>
                  </a:txBody>
                  <a:tcPr marL="39879" marR="39879" marT="19939" marB="19939" anchor="ctr"/>
                </a:tc>
                <a:tc>
                  <a:txBody>
                    <a:bodyPr/>
                    <a:lstStyle/>
                    <a:p>
                      <a:pPr>
                        <a:buNone/>
                      </a:pPr>
                      <a:r>
                        <a:rPr lang="en-IN" sz="1200" b="1"/>
                        <a:t>Evidence Strength Estimation</a:t>
                      </a:r>
                      <a:r>
                        <a:rPr lang="en-IN" sz="1200"/>
                        <a:t> indicates whether an answer is supported by one or multiple sources.</a:t>
                      </a:r>
                    </a:p>
                  </a:txBody>
                  <a:tcPr marL="39879" marR="39879" marT="19939" marB="19939" anchor="ctr"/>
                </a:tc>
                <a:extLst>
                  <a:ext uri="{0D108BD9-81ED-4DB2-BD59-A6C34878D82A}">
                    <a16:rowId xmlns:a16="http://schemas.microsoft.com/office/drawing/2014/main" val="1512367908"/>
                  </a:ext>
                </a:extLst>
              </a:tr>
              <a:tr h="567817">
                <a:tc>
                  <a:txBody>
                    <a:bodyPr/>
                    <a:lstStyle/>
                    <a:p>
                      <a:pPr>
                        <a:buNone/>
                      </a:pPr>
                      <a:r>
                        <a:rPr lang="en-IN" sz="1200"/>
                        <a:t>Most RAG systems emphasize retrieval accuracy but provide </a:t>
                      </a:r>
                      <a:r>
                        <a:rPr lang="en-IN" sz="1200" b="1"/>
                        <a:t>limited transparency for users</a:t>
                      </a:r>
                      <a:r>
                        <a:rPr lang="en-IN" sz="1200"/>
                        <a:t>.</a:t>
                      </a:r>
                    </a:p>
                  </a:txBody>
                  <a:tcPr marL="39879" marR="39879" marT="19939" marB="19939" anchor="ctr"/>
                </a:tc>
                <a:tc>
                  <a:txBody>
                    <a:bodyPr/>
                    <a:lstStyle/>
                    <a:p>
                      <a:pPr>
                        <a:buNone/>
                      </a:pPr>
                      <a:r>
                        <a:rPr lang="en-IN" sz="1200" b="1"/>
                        <a:t>Context-Aware Explainable Document Intelligence</a:t>
                      </a:r>
                      <a:r>
                        <a:rPr lang="en-IN" sz="1200"/>
                        <a:t> improves transparency and user trust.</a:t>
                      </a:r>
                    </a:p>
                  </a:txBody>
                  <a:tcPr marL="39879" marR="39879" marT="19939" marB="19939" anchor="ctr"/>
                </a:tc>
                <a:extLst>
                  <a:ext uri="{0D108BD9-81ED-4DB2-BD59-A6C34878D82A}">
                    <a16:rowId xmlns:a16="http://schemas.microsoft.com/office/drawing/2014/main" val="2532349025"/>
                  </a:ext>
                </a:extLst>
              </a:tr>
              <a:tr h="733430">
                <a:tc>
                  <a:txBody>
                    <a:bodyPr/>
                    <a:lstStyle/>
                    <a:p>
                      <a:pPr>
                        <a:buNone/>
                      </a:pPr>
                      <a:r>
                        <a:rPr lang="en-IN" sz="1200"/>
                        <a:t>Existing solutions often require multiple independent components without a unified workflow.</a:t>
                      </a:r>
                    </a:p>
                  </a:txBody>
                  <a:tcPr marL="39879" marR="39879" marT="19939" marB="19939" anchor="ctr"/>
                </a:tc>
                <a:tc>
                  <a:txBody>
                    <a:bodyPr/>
                    <a:lstStyle/>
                    <a:p>
                      <a:pPr>
                        <a:buNone/>
                      </a:pPr>
                      <a:r>
                        <a:rPr lang="en-IN" sz="1200"/>
                        <a:t>A </a:t>
                      </a:r>
                      <a:r>
                        <a:rPr lang="en-IN" sz="1200" b="1"/>
                        <a:t>single integrated framework</a:t>
                      </a:r>
                      <a:r>
                        <a:rPr lang="en-IN" sz="1200"/>
                        <a:t> combining preprocessing, hybrid retrieval, LLM generation, explainability, and document intelligence.</a:t>
                      </a:r>
                    </a:p>
                  </a:txBody>
                  <a:tcPr marL="39879" marR="39879" marT="19939" marB="19939" anchor="ctr"/>
                </a:tc>
                <a:extLst>
                  <a:ext uri="{0D108BD9-81ED-4DB2-BD59-A6C34878D82A}">
                    <a16:rowId xmlns:a16="http://schemas.microsoft.com/office/drawing/2014/main" val="3859250106"/>
                  </a:ext>
                </a:extLst>
              </a:tr>
              <a:tr h="567817">
                <a:tc>
                  <a:txBody>
                    <a:bodyPr/>
                    <a:lstStyle/>
                    <a:p>
                      <a:pPr>
                        <a:buNone/>
                      </a:pPr>
                      <a:r>
                        <a:rPr lang="en-IN" sz="1200"/>
                        <a:t>Few studies target a complete </a:t>
                      </a:r>
                      <a:r>
                        <a:rPr lang="en-IN" sz="1200" b="1"/>
                        <a:t>enterprise-ready document intelligence workflow</a:t>
                      </a:r>
                      <a:r>
                        <a:rPr lang="en-IN" sz="1200"/>
                        <a:t> with secure internal document analysis.</a:t>
                      </a:r>
                    </a:p>
                  </a:txBody>
                  <a:tcPr marL="39879" marR="39879" marT="19939" marB="19939" anchor="ctr"/>
                </a:tc>
                <a:tc>
                  <a:txBody>
                    <a:bodyPr/>
                    <a:lstStyle/>
                    <a:p>
                      <a:pPr>
                        <a:buNone/>
                      </a:pPr>
                      <a:r>
                        <a:rPr lang="en-IN" sz="1200" dirty="0"/>
                        <a:t>A modular </a:t>
                      </a:r>
                      <a:r>
                        <a:rPr lang="en-IN" sz="1200" b="1" dirty="0"/>
                        <a:t>Adaptive Hybrid RAG Framework</a:t>
                      </a:r>
                      <a:r>
                        <a:rPr lang="en-IN" sz="1200" dirty="0"/>
                        <a:t> designed for secure organizational knowledge management.</a:t>
                      </a:r>
                    </a:p>
                  </a:txBody>
                  <a:tcPr marL="39879" marR="39879" marT="19939" marB="19939" anchor="ctr"/>
                </a:tc>
                <a:extLst>
                  <a:ext uri="{0D108BD9-81ED-4DB2-BD59-A6C34878D82A}">
                    <a16:rowId xmlns:a16="http://schemas.microsoft.com/office/drawing/2014/main" val="3590863313"/>
                  </a:ext>
                </a:extLst>
              </a:tr>
            </a:tbl>
          </a:graphicData>
        </a:graphic>
      </p:graphicFrame>
    </p:spTree>
    <p:extLst>
      <p:ext uri="{BB962C8B-B14F-4D97-AF65-F5344CB8AC3E}">
        <p14:creationId xmlns:p14="http://schemas.microsoft.com/office/powerpoint/2010/main" val="3612756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4FE0D-DAA3-9455-79B8-1EF2D521A525}"/>
              </a:ext>
            </a:extLst>
          </p:cNvPr>
          <p:cNvSpPr>
            <a:spLocks noGrp="1"/>
          </p:cNvSpPr>
          <p:nvPr>
            <p:ph type="title"/>
          </p:nvPr>
        </p:nvSpPr>
        <p:spPr>
          <a:xfrm>
            <a:off x="468953" y="560835"/>
            <a:ext cx="8206094" cy="572700"/>
          </a:xfrm>
        </p:spPr>
        <p:txBody>
          <a:bodyPr/>
          <a:lstStyle/>
          <a:p>
            <a:r>
              <a:rPr lang="en-IN" sz="2500" dirty="0"/>
              <a:t>Existing System Analysis (Case Study)</a:t>
            </a:r>
          </a:p>
        </p:txBody>
      </p:sp>
      <p:sp>
        <p:nvSpPr>
          <p:cNvPr id="3" name="Text Placeholder 2">
            <a:extLst>
              <a:ext uri="{FF2B5EF4-FFF2-40B4-BE49-F238E27FC236}">
                <a16:creationId xmlns:a16="http://schemas.microsoft.com/office/drawing/2014/main" id="{23508357-40FB-E477-1BFF-16515C0FABC3}"/>
              </a:ext>
            </a:extLst>
          </p:cNvPr>
          <p:cNvSpPr>
            <a:spLocks noGrp="1"/>
          </p:cNvSpPr>
          <p:nvPr>
            <p:ph type="body" idx="1"/>
          </p:nvPr>
        </p:nvSpPr>
        <p:spPr>
          <a:xfrm>
            <a:off x="622244" y="1209403"/>
            <a:ext cx="7704000" cy="336900"/>
          </a:xfrm>
        </p:spPr>
        <p:txBody>
          <a:bodyPr/>
          <a:lstStyle/>
          <a:p>
            <a:pPr marL="139700" indent="0">
              <a:buNone/>
            </a:pPr>
            <a:r>
              <a:rPr lang="en-IN" dirty="0"/>
              <a:t>Existing System: </a:t>
            </a:r>
            <a:r>
              <a:rPr lang="en-IN" dirty="0" err="1"/>
              <a:t>ChatPDF</a:t>
            </a:r>
            <a:r>
              <a:rPr lang="en-IN" dirty="0"/>
              <a:t> (</a:t>
            </a:r>
            <a:r>
              <a:rPr lang="en-IN" dirty="0">
                <a:hlinkClick r:id="rId2"/>
              </a:rPr>
              <a:t>https://www.chatpdf.com/</a:t>
            </a:r>
            <a:r>
              <a:rPr lang="en-IN" dirty="0"/>
              <a:t>)</a:t>
            </a:r>
          </a:p>
        </p:txBody>
      </p:sp>
      <p:sp>
        <p:nvSpPr>
          <p:cNvPr id="5" name="TextBox 4">
            <a:extLst>
              <a:ext uri="{FF2B5EF4-FFF2-40B4-BE49-F238E27FC236}">
                <a16:creationId xmlns:a16="http://schemas.microsoft.com/office/drawing/2014/main" id="{35486C77-60D4-9291-17A6-0323BEA06F6C}"/>
              </a:ext>
            </a:extLst>
          </p:cNvPr>
          <p:cNvSpPr txBox="1"/>
          <p:nvPr/>
        </p:nvSpPr>
        <p:spPr>
          <a:xfrm>
            <a:off x="720000" y="1771531"/>
            <a:ext cx="7606245" cy="1600438"/>
          </a:xfrm>
          <a:prstGeom prst="rect">
            <a:avLst/>
          </a:prstGeom>
          <a:noFill/>
        </p:spPr>
        <p:txBody>
          <a:bodyPr wrap="square" rtlCol="0">
            <a:spAutoFit/>
          </a:bodyPr>
          <a:lstStyle/>
          <a:p>
            <a:pPr algn="just"/>
            <a:r>
              <a:rPr lang="en-IN" b="1" dirty="0">
                <a:solidFill>
                  <a:schemeClr val="accent3">
                    <a:lumMod val="75000"/>
                  </a:schemeClr>
                </a:solidFill>
                <a:latin typeface="Archivo" panose="020B0604020202020204" charset="0"/>
                <a:cs typeface="Archivo" panose="020B0604020202020204" charset="0"/>
              </a:rPr>
              <a:t>Description</a:t>
            </a:r>
          </a:p>
          <a:p>
            <a:pPr algn="just"/>
            <a:endParaRPr lang="en-IN" b="1" dirty="0">
              <a:solidFill>
                <a:schemeClr val="accent3">
                  <a:lumMod val="75000"/>
                </a:schemeClr>
              </a:solidFill>
              <a:latin typeface="Archivo" panose="020B0604020202020204" charset="0"/>
              <a:cs typeface="Archivo" panose="020B0604020202020204" charset="0"/>
            </a:endParaRPr>
          </a:p>
          <a:p>
            <a:pPr algn="just"/>
            <a:r>
              <a:rPr lang="en-IN" dirty="0" err="1">
                <a:solidFill>
                  <a:schemeClr val="accent3">
                    <a:lumMod val="75000"/>
                  </a:schemeClr>
                </a:solidFill>
                <a:latin typeface="Archivo" panose="020B0604020202020204" charset="0"/>
                <a:cs typeface="Archivo" panose="020B0604020202020204" charset="0"/>
              </a:rPr>
              <a:t>ChatPDF</a:t>
            </a:r>
            <a:r>
              <a:rPr lang="en-IN" dirty="0">
                <a:solidFill>
                  <a:schemeClr val="accent3">
                    <a:lumMod val="75000"/>
                  </a:schemeClr>
                </a:solidFill>
                <a:latin typeface="Archivo" panose="020B0604020202020204" charset="0"/>
                <a:cs typeface="Archivo" panose="020B0604020202020204" charset="0"/>
              </a:rPr>
              <a:t> is an AI-powered document question-answering platform that enables users to upload PDF documents and interact with them using natural language. It uses Retrieval-Augmented Generation (RAG) to retrieve relevant content from uploaded documents and generates contextual answers with source citations. It also supports document summarization and conversational interactions, making it useful for students, researchers, and professionals.</a:t>
            </a:r>
          </a:p>
        </p:txBody>
      </p:sp>
      <p:pic>
        <p:nvPicPr>
          <p:cNvPr id="6" name="Picture 5" descr="MAPS &amp; DIRECTIONS - Best Private University in Telangana ...">
            <a:extLst>
              <a:ext uri="{FF2B5EF4-FFF2-40B4-BE49-F238E27FC236}">
                <a16:creationId xmlns:a16="http://schemas.microsoft.com/office/drawing/2014/main" id="{089C9D25-FD6F-A7E6-55A2-309AACD8331F}"/>
              </a:ext>
            </a:extLst>
          </p:cNvPr>
          <p:cNvPicPr>
            <a:picLocks noChangeAspect="1"/>
          </p:cNvPicPr>
          <p:nvPr/>
        </p:nvPicPr>
        <p:blipFill>
          <a:blip r:embed="rId3"/>
          <a:stretch>
            <a:fillRect/>
          </a:stretch>
        </p:blipFill>
        <p:spPr>
          <a:xfrm>
            <a:off x="7533105" y="-188201"/>
            <a:ext cx="1392989" cy="1035386"/>
          </a:xfrm>
          <a:prstGeom prst="rect">
            <a:avLst/>
          </a:prstGeom>
        </p:spPr>
      </p:pic>
    </p:spTree>
    <p:extLst>
      <p:ext uri="{BB962C8B-B14F-4D97-AF65-F5344CB8AC3E}">
        <p14:creationId xmlns:p14="http://schemas.microsoft.com/office/powerpoint/2010/main" val="403604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9086-D760-18FD-5447-8C8CB8BB7DF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16A8FED-9557-07B7-51AA-8ECD4D43A28C}"/>
              </a:ext>
            </a:extLst>
          </p:cNvPr>
          <p:cNvSpPr>
            <a:spLocks noGrp="1"/>
          </p:cNvSpPr>
          <p:nvPr>
            <p:ph type="body" idx="1"/>
          </p:nvPr>
        </p:nvSpPr>
        <p:spPr>
          <a:xfrm>
            <a:off x="622245" y="729275"/>
            <a:ext cx="7704000" cy="336900"/>
          </a:xfrm>
        </p:spPr>
        <p:txBody>
          <a:bodyPr/>
          <a:lstStyle/>
          <a:p>
            <a:pPr marL="139700" indent="0">
              <a:buNone/>
            </a:pPr>
            <a:r>
              <a:rPr lang="en-IN" dirty="0"/>
              <a:t>Existing System: </a:t>
            </a:r>
            <a:r>
              <a:rPr lang="en-IN" dirty="0" err="1"/>
              <a:t>ChatPDF</a:t>
            </a:r>
            <a:r>
              <a:rPr lang="en-IN" dirty="0"/>
              <a:t> (</a:t>
            </a:r>
            <a:r>
              <a:rPr lang="en-IN" dirty="0">
                <a:hlinkClick r:id="rId2"/>
              </a:rPr>
              <a:t>https://www.chatpdf.com/</a:t>
            </a:r>
            <a:r>
              <a:rPr lang="en-IN" dirty="0"/>
              <a:t>)</a:t>
            </a:r>
          </a:p>
        </p:txBody>
      </p:sp>
      <p:sp>
        <p:nvSpPr>
          <p:cNvPr id="5" name="TextBox 4">
            <a:extLst>
              <a:ext uri="{FF2B5EF4-FFF2-40B4-BE49-F238E27FC236}">
                <a16:creationId xmlns:a16="http://schemas.microsoft.com/office/drawing/2014/main" id="{769C4899-93E3-62B0-184B-7D893CAF4F17}"/>
              </a:ext>
            </a:extLst>
          </p:cNvPr>
          <p:cNvSpPr txBox="1"/>
          <p:nvPr/>
        </p:nvSpPr>
        <p:spPr>
          <a:xfrm>
            <a:off x="720000" y="1285165"/>
            <a:ext cx="7606245" cy="3108543"/>
          </a:xfrm>
          <a:prstGeom prst="rect">
            <a:avLst/>
          </a:prstGeom>
          <a:noFill/>
        </p:spPr>
        <p:txBody>
          <a:bodyPr wrap="square" rtlCol="0">
            <a:spAutoFit/>
          </a:bodyPr>
          <a:lstStyle/>
          <a:p>
            <a:r>
              <a:rPr lang="en-IN" b="1" dirty="0"/>
              <a:t>Existing Features</a:t>
            </a:r>
          </a:p>
          <a:p>
            <a:pPr marL="285750" lvl="0" indent="-285750">
              <a:buClr>
                <a:srgbClr val="FF0000"/>
              </a:buClr>
              <a:buFont typeface="Symbol" panose="05050102010706020507" pitchFamily="18" charset="2"/>
              <a:buChar char=""/>
            </a:pPr>
            <a:r>
              <a:rPr lang="en-IN" dirty="0"/>
              <a:t>AI-powered document question answering. </a:t>
            </a:r>
          </a:p>
          <a:p>
            <a:pPr marL="285750" lvl="0" indent="-285750">
              <a:buClr>
                <a:srgbClr val="FF0000"/>
              </a:buClr>
              <a:buFont typeface="Symbol" panose="05050102010706020507" pitchFamily="18" charset="2"/>
              <a:buChar char=""/>
            </a:pPr>
            <a:r>
              <a:rPr lang="en-IN" dirty="0"/>
              <a:t>Document summarization. </a:t>
            </a:r>
          </a:p>
          <a:p>
            <a:pPr marL="285750" lvl="0" indent="-285750">
              <a:buClr>
                <a:srgbClr val="FF0000"/>
              </a:buClr>
              <a:buFont typeface="Symbol" panose="05050102010706020507" pitchFamily="18" charset="2"/>
              <a:buChar char=""/>
            </a:pPr>
            <a:r>
              <a:rPr lang="en-IN" dirty="0"/>
              <a:t>Source citations for generated responses. </a:t>
            </a:r>
          </a:p>
          <a:p>
            <a:pPr marL="285750" lvl="0" indent="-285750">
              <a:buClr>
                <a:srgbClr val="FF0000"/>
              </a:buClr>
              <a:buFont typeface="Symbol" panose="05050102010706020507" pitchFamily="18" charset="2"/>
              <a:buChar char=""/>
            </a:pPr>
            <a:r>
              <a:rPr lang="en-IN" dirty="0"/>
              <a:t>Conversational interaction with uploaded documents. </a:t>
            </a:r>
          </a:p>
          <a:p>
            <a:br>
              <a:rPr lang="en-IN" dirty="0"/>
            </a:br>
            <a:endParaRPr lang="en-IN" dirty="0"/>
          </a:p>
          <a:p>
            <a:r>
              <a:rPr lang="en-IN" b="1" dirty="0"/>
              <a:t>Scope for Improvement</a:t>
            </a:r>
          </a:p>
          <a:p>
            <a:pPr marL="285750" lvl="0" indent="-285750">
              <a:buClr>
                <a:srgbClr val="C00000"/>
              </a:buClr>
              <a:buFont typeface="Symbol" panose="05050102010706020507" pitchFamily="18" charset="2"/>
              <a:buChar char="À"/>
            </a:pPr>
            <a:r>
              <a:rPr lang="en-IN" dirty="0"/>
              <a:t>Primarily designed for </a:t>
            </a:r>
            <a:r>
              <a:rPr lang="en-IN" b="1" dirty="0"/>
              <a:t>single-document interaction</a:t>
            </a:r>
            <a:r>
              <a:rPr lang="en-IN" dirty="0"/>
              <a:t>. </a:t>
            </a:r>
          </a:p>
          <a:p>
            <a:pPr marL="285750" lvl="0" indent="-285750">
              <a:buClr>
                <a:srgbClr val="C00000"/>
              </a:buClr>
              <a:buFont typeface="Symbol" panose="05050102010706020507" pitchFamily="18" charset="2"/>
              <a:buChar char="À"/>
            </a:pPr>
            <a:r>
              <a:rPr lang="en-IN" dirty="0"/>
              <a:t>Limited support for </a:t>
            </a:r>
            <a:r>
              <a:rPr lang="en-IN" b="1" dirty="0"/>
              <a:t>cross-document reasoning</a:t>
            </a:r>
            <a:r>
              <a:rPr lang="en-IN" dirty="0"/>
              <a:t>. </a:t>
            </a:r>
          </a:p>
          <a:p>
            <a:pPr marL="285750" lvl="0" indent="-285750">
              <a:buClr>
                <a:srgbClr val="C00000"/>
              </a:buClr>
              <a:buFont typeface="Symbol" panose="05050102010706020507" pitchFamily="18" charset="2"/>
              <a:buChar char="À"/>
            </a:pPr>
            <a:r>
              <a:rPr lang="en-IN" dirty="0"/>
              <a:t>Does not </a:t>
            </a:r>
            <a:r>
              <a:rPr lang="en-IN" dirty="0" err="1"/>
              <a:t>analyze</a:t>
            </a:r>
            <a:r>
              <a:rPr lang="en-IN" dirty="0"/>
              <a:t> </a:t>
            </a:r>
            <a:r>
              <a:rPr lang="en-IN" b="1" dirty="0"/>
              <a:t>contradictory information</a:t>
            </a:r>
            <a:r>
              <a:rPr lang="en-IN" dirty="0"/>
              <a:t> across multiple documents. </a:t>
            </a:r>
          </a:p>
          <a:p>
            <a:pPr marL="285750" lvl="0" indent="-285750">
              <a:buClr>
                <a:srgbClr val="C00000"/>
              </a:buClr>
              <a:buFont typeface="Symbol" panose="05050102010706020507" pitchFamily="18" charset="2"/>
              <a:buChar char="À"/>
            </a:pPr>
            <a:r>
              <a:rPr lang="en-IN" dirty="0"/>
              <a:t>Does not estimate </a:t>
            </a:r>
            <a:r>
              <a:rPr lang="en-IN" b="1" dirty="0"/>
              <a:t>evidence strength</a:t>
            </a:r>
            <a:r>
              <a:rPr lang="en-IN" dirty="0"/>
              <a:t> using multiple supporting documents. </a:t>
            </a:r>
          </a:p>
          <a:p>
            <a:pPr marL="285750" lvl="0" indent="-285750">
              <a:buClr>
                <a:srgbClr val="C00000"/>
              </a:buClr>
              <a:buFont typeface="Symbol" panose="05050102010706020507" pitchFamily="18" charset="2"/>
              <a:buChar char="À"/>
            </a:pPr>
            <a:r>
              <a:rPr lang="en-IN" dirty="0"/>
              <a:t>Focuses on answering questions rather than providing </a:t>
            </a:r>
            <a:r>
              <a:rPr lang="en-IN" b="1" dirty="0"/>
              <a:t>cross-document document intelligence</a:t>
            </a:r>
            <a:r>
              <a:rPr lang="en-IN" dirty="0"/>
              <a:t>.</a:t>
            </a:r>
          </a:p>
        </p:txBody>
      </p:sp>
      <p:pic>
        <p:nvPicPr>
          <p:cNvPr id="6" name="Picture 5" descr="MAPS &amp; DIRECTIONS - Best Private University in Telangana ...">
            <a:extLst>
              <a:ext uri="{FF2B5EF4-FFF2-40B4-BE49-F238E27FC236}">
                <a16:creationId xmlns:a16="http://schemas.microsoft.com/office/drawing/2014/main" id="{257809B4-51ED-344F-D388-62A9DF06C9CB}"/>
              </a:ext>
            </a:extLst>
          </p:cNvPr>
          <p:cNvPicPr>
            <a:picLocks noChangeAspect="1"/>
          </p:cNvPicPr>
          <p:nvPr/>
        </p:nvPicPr>
        <p:blipFill>
          <a:blip r:embed="rId3"/>
          <a:stretch>
            <a:fillRect/>
          </a:stretch>
        </p:blipFill>
        <p:spPr>
          <a:xfrm>
            <a:off x="7533105" y="-188201"/>
            <a:ext cx="1392989" cy="1035386"/>
          </a:xfrm>
          <a:prstGeom prst="rect">
            <a:avLst/>
          </a:prstGeom>
        </p:spPr>
      </p:pic>
      <p:sp>
        <p:nvSpPr>
          <p:cNvPr id="4" name="TextBox 3">
            <a:extLst>
              <a:ext uri="{FF2B5EF4-FFF2-40B4-BE49-F238E27FC236}">
                <a16:creationId xmlns:a16="http://schemas.microsoft.com/office/drawing/2014/main" id="{1DF5EDB3-B4A6-B8BC-4C67-B6F523EF5BF9}"/>
              </a:ext>
            </a:extLst>
          </p:cNvPr>
          <p:cNvSpPr txBox="1"/>
          <p:nvPr/>
        </p:nvSpPr>
        <p:spPr>
          <a:xfrm>
            <a:off x="5569287" y="1066175"/>
            <a:ext cx="2854713"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sz="1200" b="1" dirty="0">
                <a:latin typeface="Aptos" panose="020B0004020202020204" pitchFamily="34" charset="0"/>
              </a:rPr>
              <a:t>Note:</a:t>
            </a:r>
            <a:r>
              <a:rPr lang="en-IN" sz="1200" dirty="0">
                <a:latin typeface="Aptos" panose="020B0004020202020204" pitchFamily="34" charset="0"/>
              </a:rPr>
              <a:t> </a:t>
            </a:r>
            <a:r>
              <a:rPr lang="en-IN" sz="1200" dirty="0" err="1">
                <a:latin typeface="Aptos" panose="020B0004020202020204" pitchFamily="34" charset="0"/>
              </a:rPr>
              <a:t>ChatPDF</a:t>
            </a:r>
            <a:r>
              <a:rPr lang="en-IN" sz="1200" dirty="0">
                <a:latin typeface="Aptos" panose="020B0004020202020204" pitchFamily="34" charset="0"/>
              </a:rPr>
              <a:t> was </a:t>
            </a:r>
            <a:r>
              <a:rPr lang="en-IN" sz="1200" dirty="0" err="1">
                <a:latin typeface="Aptos" panose="020B0004020202020204" pitchFamily="34" charset="0"/>
              </a:rPr>
              <a:t>analyzed</a:t>
            </a:r>
            <a:r>
              <a:rPr lang="en-IN" sz="1200" dirty="0">
                <a:latin typeface="Aptos" panose="020B0004020202020204" pitchFamily="34" charset="0"/>
              </a:rPr>
              <a:t> to understand how current AI-powered document question answering systems work in practice.</a:t>
            </a:r>
          </a:p>
        </p:txBody>
      </p:sp>
    </p:spTree>
    <p:extLst>
      <p:ext uri="{BB962C8B-B14F-4D97-AF65-F5344CB8AC3E}">
        <p14:creationId xmlns:p14="http://schemas.microsoft.com/office/powerpoint/2010/main" val="2345987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4"/>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p:cNvGrpSpPr/>
          <p:nvPr/>
        </p:nvGrpSpPr>
        <p:grpSpPr>
          <a:xfrm>
            <a:off x="8400" y="69700"/>
            <a:ext cx="9135601" cy="5004101"/>
            <a:chOff x="8400" y="69700"/>
            <a:chExt cx="9135601" cy="5004101"/>
          </a:xfrm>
        </p:grpSpPr>
        <p:pic>
          <p:nvPicPr>
            <p:cNvPr id="444" name="Google Shape;444;p44"/>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graphicFrame>
        <p:nvGraphicFramePr>
          <p:cNvPr id="6" name="Table 5">
            <a:extLst>
              <a:ext uri="{FF2B5EF4-FFF2-40B4-BE49-F238E27FC236}">
                <a16:creationId xmlns:a16="http://schemas.microsoft.com/office/drawing/2014/main" id="{C628F5C8-A2EE-FEE9-C5A4-34DBAA33C669}"/>
              </a:ext>
            </a:extLst>
          </p:cNvPr>
          <p:cNvGraphicFramePr>
            <a:graphicFrameLocks noGrp="1"/>
          </p:cNvGraphicFramePr>
          <p:nvPr>
            <p:extLst>
              <p:ext uri="{D42A27DB-BD31-4B8C-83A1-F6EECF244321}">
                <p14:modId xmlns:p14="http://schemas.microsoft.com/office/powerpoint/2010/main" val="2331407723"/>
              </p:ext>
            </p:extLst>
          </p:nvPr>
        </p:nvGraphicFramePr>
        <p:xfrm>
          <a:off x="1499664" y="1063897"/>
          <a:ext cx="5966253" cy="3459742"/>
        </p:xfrm>
        <a:graphic>
          <a:graphicData uri="http://schemas.openxmlformats.org/drawingml/2006/table">
            <a:tbl>
              <a:tblPr>
                <a:tableStyleId>{69CF1AB2-1976-4502-BF36-3FF5EA218861}</a:tableStyleId>
              </a:tblPr>
              <a:tblGrid>
                <a:gridCol w="1988751">
                  <a:extLst>
                    <a:ext uri="{9D8B030D-6E8A-4147-A177-3AD203B41FA5}">
                      <a16:colId xmlns:a16="http://schemas.microsoft.com/office/drawing/2014/main" val="2279795567"/>
                    </a:ext>
                  </a:extLst>
                </a:gridCol>
                <a:gridCol w="1988751">
                  <a:extLst>
                    <a:ext uri="{9D8B030D-6E8A-4147-A177-3AD203B41FA5}">
                      <a16:colId xmlns:a16="http://schemas.microsoft.com/office/drawing/2014/main" val="4058312546"/>
                    </a:ext>
                  </a:extLst>
                </a:gridCol>
                <a:gridCol w="1988751">
                  <a:extLst>
                    <a:ext uri="{9D8B030D-6E8A-4147-A177-3AD203B41FA5}">
                      <a16:colId xmlns:a16="http://schemas.microsoft.com/office/drawing/2014/main" val="1579490320"/>
                    </a:ext>
                  </a:extLst>
                </a:gridCol>
              </a:tblGrid>
              <a:tr h="235607">
                <a:tc>
                  <a:txBody>
                    <a:bodyPr/>
                    <a:lstStyle/>
                    <a:p>
                      <a:pPr>
                        <a:buNone/>
                      </a:pPr>
                      <a:r>
                        <a:rPr lang="en-IN" sz="1100">
                          <a:latin typeface="Archivo" panose="020B0604020202020204" charset="0"/>
                          <a:cs typeface="Archivo" panose="020B0604020202020204" charset="0"/>
                        </a:rPr>
                        <a:t>Feature</a:t>
                      </a:r>
                    </a:p>
                  </a:txBody>
                  <a:tcPr marL="70682" marR="70682" marT="35341" marB="35341" anchor="ctr"/>
                </a:tc>
                <a:tc>
                  <a:txBody>
                    <a:bodyPr/>
                    <a:lstStyle/>
                    <a:p>
                      <a:pPr>
                        <a:buNone/>
                      </a:pPr>
                      <a:r>
                        <a:rPr lang="en-IN" sz="1100" dirty="0" err="1">
                          <a:latin typeface="Archivo" panose="020B0604020202020204" charset="0"/>
                          <a:cs typeface="Archivo" panose="020B0604020202020204" charset="0"/>
                        </a:rPr>
                        <a:t>ChatPDF</a:t>
                      </a:r>
                      <a:endParaRPr lang="en-IN" sz="1100" dirty="0">
                        <a:latin typeface="Archivo" panose="020B0604020202020204" charset="0"/>
                        <a:cs typeface="Archivo" panose="020B0604020202020204" charset="0"/>
                      </a:endParaRPr>
                    </a:p>
                  </a:txBody>
                  <a:tcPr marL="70682" marR="70682" marT="35341" marB="35341" anchor="ctr"/>
                </a:tc>
                <a:tc>
                  <a:txBody>
                    <a:bodyPr/>
                    <a:lstStyle/>
                    <a:p>
                      <a:pPr>
                        <a:buNone/>
                      </a:pPr>
                      <a:r>
                        <a:rPr lang="en-IN" sz="1100">
                          <a:latin typeface="Archivo" panose="020B0604020202020204" charset="0"/>
                          <a:cs typeface="Archivo" panose="020B0604020202020204" charset="0"/>
                        </a:rPr>
                        <a:t>Proposed System</a:t>
                      </a:r>
                    </a:p>
                  </a:txBody>
                  <a:tcPr marL="70682" marR="70682" marT="35341" marB="35341" anchor="ctr"/>
                </a:tc>
                <a:extLst>
                  <a:ext uri="{0D108BD9-81ED-4DB2-BD59-A6C34878D82A}">
                    <a16:rowId xmlns:a16="http://schemas.microsoft.com/office/drawing/2014/main" val="620097120"/>
                  </a:ext>
                </a:extLst>
              </a:tr>
              <a:tr h="400532">
                <a:tc>
                  <a:txBody>
                    <a:bodyPr/>
                    <a:lstStyle/>
                    <a:p>
                      <a:pPr>
                        <a:buNone/>
                      </a:pPr>
                      <a:r>
                        <a:rPr lang="en-IN" sz="1100">
                          <a:latin typeface="Archivo" panose="020B0604020202020204" charset="0"/>
                          <a:cs typeface="Archivo" panose="020B0604020202020204" charset="0"/>
                        </a:rPr>
                        <a:t>AI-powered Question Answering</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337260217"/>
                  </a:ext>
                </a:extLst>
              </a:tr>
              <a:tr h="235607">
                <a:tc>
                  <a:txBody>
                    <a:bodyPr/>
                    <a:lstStyle/>
                    <a:p>
                      <a:pPr>
                        <a:buNone/>
                      </a:pPr>
                      <a:r>
                        <a:rPr lang="en-IN" sz="1100">
                          <a:latin typeface="Archivo" panose="020B0604020202020204" charset="0"/>
                          <a:cs typeface="Archivo" panose="020B0604020202020204" charset="0"/>
                        </a:rPr>
                        <a:t>Document Summarization</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79063432"/>
                  </a:ext>
                </a:extLst>
              </a:tr>
              <a:tr h="235607">
                <a:tc>
                  <a:txBody>
                    <a:bodyPr/>
                    <a:lstStyle/>
                    <a:p>
                      <a:pPr>
                        <a:buNone/>
                      </a:pPr>
                      <a:r>
                        <a:rPr lang="en-IN" sz="1100">
                          <a:latin typeface="Archivo" panose="020B0604020202020204" charset="0"/>
                          <a:cs typeface="Archivo" panose="020B0604020202020204" charset="0"/>
                        </a:rPr>
                        <a:t>Source Citations</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2012548"/>
                  </a:ext>
                </a:extLst>
              </a:tr>
              <a:tr h="235607">
                <a:tc>
                  <a:txBody>
                    <a:bodyPr/>
                    <a:lstStyle/>
                    <a:p>
                      <a:pPr>
                        <a:buNone/>
                      </a:pPr>
                      <a:r>
                        <a:rPr lang="en-IN" sz="1100">
                          <a:latin typeface="Archivo" panose="020B0604020202020204" charset="0"/>
                          <a:cs typeface="Archivo" panose="020B0604020202020204" charset="0"/>
                        </a:rPr>
                        <a:t>Multiple Document Upload</a:t>
                      </a:r>
                    </a:p>
                  </a:txBody>
                  <a:tcPr marL="70682" marR="70682" marT="35341" marB="35341" anchor="ctr"/>
                </a:tc>
                <a:tc>
                  <a:txBody>
                    <a:bodyPr/>
                    <a:lstStyle/>
                    <a:p>
                      <a:pPr>
                        <a:buNone/>
                      </a:pPr>
                      <a:r>
                        <a:rPr lang="en-IN" sz="1100">
                          <a:latin typeface="Archivo" panose="020B0604020202020204" charset="0"/>
                          <a:cs typeface="Archivo" panose="020B0604020202020204" charset="0"/>
                        </a:rPr>
                        <a:t>Limited</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4138394982"/>
                  </a:ext>
                </a:extLst>
              </a:tr>
              <a:tr h="400532">
                <a:tc>
                  <a:txBody>
                    <a:bodyPr/>
                    <a:lstStyle/>
                    <a:p>
                      <a:pPr>
                        <a:buNone/>
                      </a:pPr>
                      <a:r>
                        <a:rPr lang="en-IN" sz="1100">
                          <a:latin typeface="Archivo" panose="020B0604020202020204" charset="0"/>
                          <a:cs typeface="Archivo" panose="020B0604020202020204" charset="0"/>
                        </a:rPr>
                        <a:t>Cross-Document Question Answering</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127097623"/>
                  </a:ext>
                </a:extLst>
              </a:tr>
              <a:tr h="400532">
                <a:tc>
                  <a:txBody>
                    <a:bodyPr/>
                    <a:lstStyle/>
                    <a:p>
                      <a:pPr>
                        <a:buNone/>
                      </a:pPr>
                      <a:r>
                        <a:rPr lang="en-IN" sz="1100">
                          <a:latin typeface="Archivo" panose="020B0604020202020204" charset="0"/>
                          <a:cs typeface="Archivo" panose="020B0604020202020204" charset="0"/>
                        </a:rPr>
                        <a:t>Contradiction Detection Across Documents</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111836563"/>
                  </a:ext>
                </a:extLst>
              </a:tr>
              <a:tr h="235607">
                <a:tc>
                  <a:txBody>
                    <a:bodyPr/>
                    <a:lstStyle/>
                    <a:p>
                      <a:pPr>
                        <a:buNone/>
                      </a:pPr>
                      <a:r>
                        <a:rPr lang="en-IN" sz="1100">
                          <a:latin typeface="Archivo" panose="020B0604020202020204" charset="0"/>
                          <a:cs typeface="Archivo" panose="020B0604020202020204" charset="0"/>
                        </a:rPr>
                        <a:t>Evidence Strength Analysis</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615125255"/>
                  </a:ext>
                </a:extLst>
              </a:tr>
              <a:tr h="235607">
                <a:tc>
                  <a:txBody>
                    <a:bodyPr/>
                    <a:lstStyle/>
                    <a:p>
                      <a:pPr>
                        <a:buNone/>
                      </a:pPr>
                      <a:r>
                        <a:rPr lang="en-IN" sz="1100">
                          <a:latin typeface="Archivo" panose="020B0604020202020204" charset="0"/>
                          <a:cs typeface="Archivo" panose="020B0604020202020204" charset="0"/>
                        </a:rPr>
                        <a:t>Adaptive Hybrid Retrieval</a:t>
                      </a:r>
                    </a:p>
                  </a:txBody>
                  <a:tcPr marL="70682" marR="70682" marT="35341" marB="35341" anchor="ctr"/>
                </a:tc>
                <a:tc>
                  <a:txBody>
                    <a:bodyPr/>
                    <a:lstStyle/>
                    <a:p>
                      <a:pPr>
                        <a:buNone/>
                      </a:pPr>
                      <a:r>
                        <a:rPr lang="en-IN" sz="1100">
                          <a:latin typeface="Archivo" panose="020B0604020202020204" charset="0"/>
                          <a:cs typeface="Archivo" panose="020B0604020202020204" charset="0"/>
                        </a:rPr>
                        <a:t>❌ (User-facing)</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3885557396"/>
                  </a:ext>
                </a:extLst>
              </a:tr>
              <a:tr h="400532">
                <a:tc>
                  <a:txBody>
                    <a:bodyPr/>
                    <a:lstStyle/>
                    <a:p>
                      <a:pPr>
                        <a:buNone/>
                      </a:pPr>
                      <a:r>
                        <a:rPr lang="en-IN" sz="1100">
                          <a:latin typeface="Archivo" panose="020B0604020202020204" charset="0"/>
                          <a:cs typeface="Archivo" panose="020B0604020202020204" charset="0"/>
                        </a:rPr>
                        <a:t>Interactive Evidence Navigation</a:t>
                      </a:r>
                    </a:p>
                  </a:txBody>
                  <a:tcPr marL="70682" marR="70682" marT="35341" marB="35341" anchor="ctr"/>
                </a:tc>
                <a:tc>
                  <a:txBody>
                    <a:bodyPr/>
                    <a:lstStyle/>
                    <a:p>
                      <a:pPr>
                        <a:buNone/>
                      </a:pPr>
                      <a:r>
                        <a:rPr lang="en-IN" sz="1100">
                          <a:latin typeface="Archivo" panose="020B0604020202020204" charset="0"/>
                          <a:cs typeface="Archivo" panose="020B0604020202020204" charset="0"/>
                        </a:rPr>
                        <a:t>Basic Citation</a:t>
                      </a:r>
                    </a:p>
                  </a:txBody>
                  <a:tcPr marL="70682" marR="70682" marT="35341" marB="35341" anchor="ctr"/>
                </a:tc>
                <a:tc>
                  <a:txBody>
                    <a:bodyPr/>
                    <a:lstStyle/>
                    <a:p>
                      <a:pPr>
                        <a:buNone/>
                      </a:pPr>
                      <a:r>
                        <a:rPr lang="en-IN" sz="1100">
                          <a:latin typeface="Archivo" panose="020B0604020202020204" charset="0"/>
                          <a:cs typeface="Archivo" panose="020B0604020202020204" charset="0"/>
                        </a:rPr>
                        <a:t>✅ Highlighted Source</a:t>
                      </a:r>
                    </a:p>
                  </a:txBody>
                  <a:tcPr marL="70682" marR="70682" marT="35341" marB="35341" anchor="ctr"/>
                </a:tc>
                <a:extLst>
                  <a:ext uri="{0D108BD9-81ED-4DB2-BD59-A6C34878D82A}">
                    <a16:rowId xmlns:a16="http://schemas.microsoft.com/office/drawing/2014/main" val="3939945104"/>
                  </a:ext>
                </a:extLst>
              </a:tr>
              <a:tr h="400532">
                <a:tc>
                  <a:txBody>
                    <a:bodyPr/>
                    <a:lstStyle/>
                    <a:p>
                      <a:pPr>
                        <a:buNone/>
                      </a:pPr>
                      <a:r>
                        <a:rPr lang="en-IN" sz="1100" dirty="0">
                          <a:latin typeface="Archivo" panose="020B0604020202020204" charset="0"/>
                          <a:cs typeface="Archivo" panose="020B0604020202020204" charset="0"/>
                        </a:rPr>
                        <a:t>Explainable Document Intelligence</a:t>
                      </a:r>
                    </a:p>
                  </a:txBody>
                  <a:tcPr marL="70682" marR="70682" marT="35341" marB="35341" anchor="ctr"/>
                </a:tc>
                <a:tc>
                  <a:txBody>
                    <a:bodyPr/>
                    <a:lstStyle/>
                    <a:p>
                      <a:pPr>
                        <a:buNone/>
                      </a:pPr>
                      <a:r>
                        <a:rPr lang="en-IN" sz="1100">
                          <a:latin typeface="Archivo" panose="020B0604020202020204" charset="0"/>
                          <a:cs typeface="Archivo" panose="020B0604020202020204" charset="0"/>
                        </a:rPr>
                        <a:t>Limited</a:t>
                      </a:r>
                    </a:p>
                  </a:txBody>
                  <a:tcPr marL="70682" marR="70682" marT="35341" marB="35341" anchor="ctr"/>
                </a:tc>
                <a:tc>
                  <a:txBody>
                    <a:bodyPr/>
                    <a:lstStyle/>
                    <a:p>
                      <a:pPr>
                        <a:buNone/>
                      </a:pPr>
                      <a:r>
                        <a:rPr lang="en-IN" sz="1100" dirty="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97605224"/>
                  </a:ext>
                </a:extLst>
              </a:tr>
            </a:tbl>
          </a:graphicData>
        </a:graphic>
      </p:graphicFrame>
      <p:pic>
        <p:nvPicPr>
          <p:cNvPr id="3" name="Picture 2" descr="MAPS &amp; DIRECTIONS - Best Private University in Telangana ...">
            <a:extLst>
              <a:ext uri="{FF2B5EF4-FFF2-40B4-BE49-F238E27FC236}">
                <a16:creationId xmlns:a16="http://schemas.microsoft.com/office/drawing/2014/main" id="{89FB737D-06EE-8363-F74C-01D72B9693B0}"/>
              </a:ext>
            </a:extLst>
          </p:cNvPr>
          <p:cNvPicPr>
            <a:picLocks noChangeAspect="1"/>
          </p:cNvPicPr>
          <p:nvPr/>
        </p:nvPicPr>
        <p:blipFill>
          <a:blip r:embed="rId4"/>
          <a:stretch>
            <a:fillRect/>
          </a:stretch>
        </p:blipFill>
        <p:spPr>
          <a:xfrm>
            <a:off x="7585144" y="4005946"/>
            <a:ext cx="1392989" cy="10353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7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Innovation</a:t>
            </a:r>
            <a:endParaRPr dirty="0"/>
          </a:p>
        </p:txBody>
      </p:sp>
      <p:sp>
        <p:nvSpPr>
          <p:cNvPr id="871" name="Google Shape;871;p71"/>
          <p:cNvSpPr txBox="1"/>
          <p:nvPr/>
        </p:nvSpPr>
        <p:spPr>
          <a:xfrm>
            <a:off x="5052175" y="1941047"/>
            <a:ext cx="3270900" cy="255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class Robot:</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__init__(self, x, y):</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self.x = x</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y</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move_up(self):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1</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def move_down(self):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1</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move_left(self):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self.x -= 1</a:t>
            </a:r>
            <a:endParaRPr sz="1000" dirty="0">
              <a:solidFill>
                <a:schemeClr val="lt1"/>
              </a:solidFill>
              <a:latin typeface="IBM Plex Mono"/>
              <a:ea typeface="IBM Plex Mono"/>
              <a:cs typeface="IBM Plex Mono"/>
              <a:sym typeface="IBM Plex Mono"/>
            </a:endParaRPr>
          </a:p>
          <a:p>
            <a:pPr marL="0" lvl="0" indent="0" algn="r"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a:t>
            </a:r>
            <a:endParaRPr sz="1000" dirty="0">
              <a:solidFill>
                <a:schemeClr val="lt1"/>
              </a:solidFill>
              <a:latin typeface="IBM Plex Mono"/>
              <a:ea typeface="IBM Plex Mono"/>
              <a:cs typeface="IBM Plex Mono"/>
              <a:sym typeface="IBM Plex Mono"/>
            </a:endParaRPr>
          </a:p>
        </p:txBody>
      </p:sp>
      <p:sp>
        <p:nvSpPr>
          <p:cNvPr id="872" name="Google Shape;872;p71"/>
          <p:cNvSpPr txBox="1"/>
          <p:nvPr/>
        </p:nvSpPr>
        <p:spPr>
          <a:xfrm>
            <a:off x="713224" y="1180650"/>
            <a:ext cx="7226443" cy="3423300"/>
          </a:xfrm>
          <a:prstGeom prst="rect">
            <a:avLst/>
          </a:prstGeom>
          <a:noFill/>
          <a:ln>
            <a:noFill/>
          </a:ln>
        </p:spPr>
        <p:txBody>
          <a:bodyPr spcFirstLastPara="1" wrap="square" lIns="91425" tIns="91425" rIns="91425" bIns="91425" anchor="t" anchorCtr="0">
            <a:noAutofit/>
          </a:bodyPr>
          <a:lstStyle/>
          <a:p>
            <a:r>
              <a:rPr lang="en-IN" dirty="0">
                <a:latin typeface="Mangal" panose="02040503050203030202" pitchFamily="18" charset="0"/>
                <a:cs typeface="Mangal" panose="02040503050203030202" pitchFamily="18" charset="0"/>
              </a:rPr>
              <a:t>Our proposed framework introduces the following innovations:</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Adaptive Hybrid Retrieval</a:t>
            </a:r>
            <a:r>
              <a:rPr lang="en-IN" dirty="0">
                <a:latin typeface="Mangal" panose="02040503050203030202" pitchFamily="18" charset="0"/>
                <a:cs typeface="Mangal" panose="02040503050203030202" pitchFamily="18" charset="0"/>
              </a:rPr>
              <a:t> that dynamically selects the most suitable retrieval strategy based on the user's query.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Cross-Document Intelligence</a:t>
            </a:r>
            <a:r>
              <a:rPr lang="en-IN" dirty="0">
                <a:latin typeface="Mangal" panose="02040503050203030202" pitchFamily="18" charset="0"/>
                <a:cs typeface="Mangal" panose="02040503050203030202" pitchFamily="18" charset="0"/>
              </a:rPr>
              <a:t> to retrieve and </a:t>
            </a:r>
            <a:r>
              <a:rPr lang="en-IN" dirty="0" err="1">
                <a:latin typeface="Mangal" panose="02040503050203030202" pitchFamily="18" charset="0"/>
                <a:cs typeface="Mangal" panose="02040503050203030202" pitchFamily="18" charset="0"/>
              </a:rPr>
              <a:t>analyze</a:t>
            </a:r>
            <a:r>
              <a:rPr lang="en-IN" dirty="0">
                <a:latin typeface="Mangal" panose="02040503050203030202" pitchFamily="18" charset="0"/>
                <a:cs typeface="Mangal" panose="02040503050203030202" pitchFamily="18" charset="0"/>
              </a:rPr>
              <a:t> information from multiple uploaded documents.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Contradiction Detection</a:t>
            </a:r>
            <a:r>
              <a:rPr lang="en-IN" dirty="0">
                <a:latin typeface="Mangal" panose="02040503050203030202" pitchFamily="18" charset="0"/>
                <a:cs typeface="Mangal" panose="02040503050203030202" pitchFamily="18" charset="0"/>
              </a:rPr>
              <a:t> to identify conflicting information across different documents.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Evidence Strength Analysis</a:t>
            </a:r>
            <a:r>
              <a:rPr lang="en-IN" dirty="0">
                <a:latin typeface="Mangal" panose="02040503050203030202" pitchFamily="18" charset="0"/>
                <a:cs typeface="Mangal" panose="02040503050203030202" pitchFamily="18" charset="0"/>
              </a:rPr>
              <a:t> to estimate the reliability of generated responses using supporting evidence from multiple documents.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Interactive Evidence Navigation</a:t>
            </a:r>
            <a:r>
              <a:rPr lang="en-IN" dirty="0">
                <a:latin typeface="Mangal" panose="02040503050203030202" pitchFamily="18" charset="0"/>
                <a:cs typeface="Mangal" panose="02040503050203030202" pitchFamily="18" charset="0"/>
              </a:rPr>
              <a:t>, allowing users to view the exact highlighted text used to generate an answer.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Explainable AI Workflow</a:t>
            </a:r>
            <a:r>
              <a:rPr lang="en-IN" dirty="0">
                <a:latin typeface="Mangal" panose="02040503050203030202" pitchFamily="18" charset="0"/>
                <a:cs typeface="Mangal" panose="02040503050203030202" pitchFamily="18" charset="0"/>
              </a:rPr>
              <a:t> that improves transparency and user trust.</a:t>
            </a:r>
          </a:p>
        </p:txBody>
      </p:sp>
      <p:pic>
        <p:nvPicPr>
          <p:cNvPr id="3" name="Picture 2" descr="MAPS &amp; DIRECTIONS - Best Private University in Telangana ...">
            <a:extLst>
              <a:ext uri="{FF2B5EF4-FFF2-40B4-BE49-F238E27FC236}">
                <a16:creationId xmlns:a16="http://schemas.microsoft.com/office/drawing/2014/main" id="{791919D6-24ED-2493-7F44-B29949AE61DA}"/>
              </a:ext>
            </a:extLst>
          </p:cNvPr>
          <p:cNvPicPr>
            <a:picLocks noChangeAspect="1"/>
          </p:cNvPicPr>
          <p:nvPr/>
        </p:nvPicPr>
        <p:blipFill>
          <a:blip r:embed="rId3"/>
          <a:stretch>
            <a:fillRect/>
          </a:stretch>
        </p:blipFill>
        <p:spPr>
          <a:xfrm>
            <a:off x="7533105" y="-188201"/>
            <a:ext cx="1392989" cy="10353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52"/>
          <p:cNvSpPr txBox="1">
            <a:spLocks noGrp="1"/>
          </p:cNvSpPr>
          <p:nvPr>
            <p:ph type="title"/>
          </p:nvPr>
        </p:nvSpPr>
        <p:spPr>
          <a:xfrm>
            <a:off x="-1193753" y="355253"/>
            <a:ext cx="6297000" cy="661800"/>
          </a:xfrm>
          <a:prstGeom prst="rect">
            <a:avLst/>
          </a:prstGeom>
        </p:spPr>
        <p:txBody>
          <a:bodyPr spcFirstLastPara="1" wrap="square" lIns="91425" tIns="91425" rIns="91425" bIns="91425" anchor="t" anchorCtr="0">
            <a:noAutofit/>
          </a:bodyPr>
          <a:lstStyle/>
          <a:p>
            <a:pPr lvl="0"/>
            <a:r>
              <a:rPr lang="en-IN" dirty="0"/>
              <a:t>Creativity</a:t>
            </a:r>
            <a:endParaRPr dirty="0"/>
          </a:p>
        </p:txBody>
      </p:sp>
      <p:grpSp>
        <p:nvGrpSpPr>
          <p:cNvPr id="540" name="Google Shape;540;p52"/>
          <p:cNvGrpSpPr/>
          <p:nvPr/>
        </p:nvGrpSpPr>
        <p:grpSpPr>
          <a:xfrm>
            <a:off x="-1839154" y="-57150"/>
            <a:ext cx="4468128" cy="5219700"/>
            <a:chOff x="-1839154" y="-57150"/>
            <a:chExt cx="4468128" cy="5219700"/>
          </a:xfrm>
        </p:grpSpPr>
        <p:pic>
          <p:nvPicPr>
            <p:cNvPr id="541" name="Google Shape;541;p52"/>
            <p:cNvPicPr preferRelativeResize="0"/>
            <p:nvPr/>
          </p:nvPicPr>
          <p:blipFill rotWithShape="1">
            <a:blip r:embed="rId3">
              <a:alphaModFix amt="63000"/>
            </a:blip>
            <a:srcRect l="6927" t="18643" r="3347" b="8188"/>
            <a:stretch/>
          </p:blipFill>
          <p:spPr>
            <a:xfrm rot="-5400000">
              <a:off x="-2076450" y="1828800"/>
              <a:ext cx="5219700" cy="1447800"/>
            </a:xfrm>
            <a:prstGeom prst="rect">
              <a:avLst/>
            </a:prstGeom>
            <a:noFill/>
            <a:ln>
              <a:noFill/>
            </a:ln>
          </p:spPr>
        </p:pic>
        <p:pic>
          <p:nvPicPr>
            <p:cNvPr id="542" name="Google Shape;542;p52"/>
            <p:cNvPicPr preferRelativeResize="0"/>
            <p:nvPr/>
          </p:nvPicPr>
          <p:blipFill rotWithShape="1">
            <a:blip r:embed="rId4">
              <a:alphaModFix/>
            </a:blip>
            <a:srcRect r="41596"/>
            <a:stretch/>
          </p:blipFill>
          <p:spPr>
            <a:xfrm rot="5400000">
              <a:off x="-220851" y="1052975"/>
              <a:ext cx="2428876" cy="780125"/>
            </a:xfrm>
            <a:prstGeom prst="rect">
              <a:avLst/>
            </a:prstGeom>
            <a:noFill/>
            <a:ln>
              <a:noFill/>
            </a:ln>
          </p:spPr>
        </p:pic>
        <p:pic>
          <p:nvPicPr>
            <p:cNvPr id="543" name="Google Shape;543;p52"/>
            <p:cNvPicPr preferRelativeResize="0"/>
            <p:nvPr/>
          </p:nvPicPr>
          <p:blipFill rotWithShape="1">
            <a:blip r:embed="rId5">
              <a:alphaModFix/>
            </a:blip>
            <a:srcRect b="5393"/>
            <a:stretch/>
          </p:blipFill>
          <p:spPr>
            <a:xfrm rot="5400000">
              <a:off x="-844313" y="1822787"/>
              <a:ext cx="3148475" cy="1497951"/>
            </a:xfrm>
            <a:prstGeom prst="rect">
              <a:avLst/>
            </a:prstGeom>
            <a:noFill/>
            <a:ln>
              <a:noFill/>
            </a:ln>
          </p:spPr>
        </p:pic>
        <p:pic>
          <p:nvPicPr>
            <p:cNvPr id="544" name="Google Shape;544;p52"/>
            <p:cNvPicPr preferRelativeResize="0"/>
            <p:nvPr/>
          </p:nvPicPr>
          <p:blipFill>
            <a:blip r:embed="rId6">
              <a:alphaModFix/>
            </a:blip>
            <a:stretch>
              <a:fillRect/>
            </a:stretch>
          </p:blipFill>
          <p:spPr>
            <a:xfrm rot="1799998">
              <a:off x="-1552473" y="2126215"/>
              <a:ext cx="3894766" cy="2190318"/>
            </a:xfrm>
            <a:prstGeom prst="rect">
              <a:avLst/>
            </a:prstGeom>
            <a:noFill/>
            <a:ln>
              <a:noFill/>
            </a:ln>
          </p:spPr>
        </p:pic>
      </p:grpSp>
      <p:pic>
        <p:nvPicPr>
          <p:cNvPr id="545" name="Google Shape;545;p52"/>
          <p:cNvPicPr preferRelativeResize="0"/>
          <p:nvPr/>
        </p:nvPicPr>
        <p:blipFill>
          <a:blip r:embed="rId7">
            <a:alphaModFix/>
          </a:blip>
          <a:stretch>
            <a:fillRect/>
          </a:stretch>
        </p:blipFill>
        <p:spPr>
          <a:xfrm>
            <a:off x="1217190" y="120078"/>
            <a:ext cx="2823565" cy="887450"/>
          </a:xfrm>
          <a:prstGeom prst="rect">
            <a:avLst/>
          </a:prstGeom>
          <a:noFill/>
          <a:ln>
            <a:noFill/>
          </a:ln>
        </p:spPr>
      </p:pic>
      <p:pic>
        <p:nvPicPr>
          <p:cNvPr id="546" name="Google Shape;546;p52"/>
          <p:cNvPicPr preferRelativeResize="0"/>
          <p:nvPr/>
        </p:nvPicPr>
        <p:blipFill>
          <a:blip r:embed="rId8">
            <a:alphaModFix/>
          </a:blip>
          <a:stretch>
            <a:fillRect/>
          </a:stretch>
        </p:blipFill>
        <p:spPr>
          <a:xfrm rot="10800000">
            <a:off x="7973724" y="4603999"/>
            <a:ext cx="456876" cy="242950"/>
          </a:xfrm>
          <a:prstGeom prst="rect">
            <a:avLst/>
          </a:prstGeom>
          <a:noFill/>
          <a:ln>
            <a:noFill/>
          </a:ln>
        </p:spPr>
      </p:pic>
      <p:sp>
        <p:nvSpPr>
          <p:cNvPr id="4" name="TextBox 3">
            <a:extLst>
              <a:ext uri="{FF2B5EF4-FFF2-40B4-BE49-F238E27FC236}">
                <a16:creationId xmlns:a16="http://schemas.microsoft.com/office/drawing/2014/main" id="{77CC90F8-749F-698A-5B84-B2CEA25CC2C3}"/>
              </a:ext>
            </a:extLst>
          </p:cNvPr>
          <p:cNvSpPr txBox="1"/>
          <p:nvPr/>
        </p:nvSpPr>
        <p:spPr>
          <a:xfrm>
            <a:off x="1820933" y="1359941"/>
            <a:ext cx="6378930" cy="2246769"/>
          </a:xfrm>
          <a:prstGeom prst="rect">
            <a:avLst/>
          </a:prstGeom>
          <a:noFill/>
        </p:spPr>
        <p:txBody>
          <a:bodyPr wrap="square" rtlCol="0">
            <a:spAutoFit/>
          </a:bodyPr>
          <a:lstStyle/>
          <a:p>
            <a:r>
              <a:rPr lang="en-IN" dirty="0">
                <a:solidFill>
                  <a:schemeClr val="accent3">
                    <a:lumMod val="75000"/>
                  </a:schemeClr>
                </a:solidFill>
                <a:latin typeface="Archivo" panose="020B0604020202020204" charset="0"/>
                <a:cs typeface="Archivo" panose="020B0604020202020204" charset="0"/>
              </a:rPr>
              <a:t>Our project transforms traditional document question answering into an intelligent document analysis platform by integrating:</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Multi-document understanding.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Explainable evidence tracing.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Cross-document comparison.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Intelligent contradiction detection.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Reliable evidence-based answer generation. </a:t>
            </a:r>
          </a:p>
          <a:p>
            <a:r>
              <a:rPr lang="en-IN" dirty="0">
                <a:solidFill>
                  <a:schemeClr val="accent3">
                    <a:lumMod val="75000"/>
                  </a:schemeClr>
                </a:solidFill>
                <a:latin typeface="Archivo" panose="020B0604020202020204" charset="0"/>
                <a:cs typeface="Archivo" panose="020B0604020202020204" charset="0"/>
              </a:rPr>
              <a:t>This enables users to not only receive answers but also understand how those answers were derived.</a:t>
            </a:r>
          </a:p>
          <a:p>
            <a:endParaRPr lang="en-IN" dirty="0">
              <a:solidFill>
                <a:schemeClr val="accent3">
                  <a:lumMod val="75000"/>
                </a:schemeClr>
              </a:solidFill>
              <a:latin typeface="Archivo" panose="020B0604020202020204" charset="0"/>
              <a:cs typeface="Archivo" panose="020B0604020202020204" charset="0"/>
            </a:endParaRPr>
          </a:p>
        </p:txBody>
      </p:sp>
      <p:pic>
        <p:nvPicPr>
          <p:cNvPr id="3" name="Picture 2" descr="MAPS &amp; DIRECTIONS - Best Private University in Telangana ...">
            <a:extLst>
              <a:ext uri="{FF2B5EF4-FFF2-40B4-BE49-F238E27FC236}">
                <a16:creationId xmlns:a16="http://schemas.microsoft.com/office/drawing/2014/main" id="{89DE5475-BB97-B897-7CAB-7ACE8E3390AE}"/>
              </a:ext>
            </a:extLst>
          </p:cNvPr>
          <p:cNvPicPr>
            <a:picLocks noChangeAspect="1"/>
          </p:cNvPicPr>
          <p:nvPr/>
        </p:nvPicPr>
        <p:blipFill>
          <a:blip r:embed="rId9"/>
          <a:stretch>
            <a:fillRect/>
          </a:stretch>
        </p:blipFill>
        <p:spPr>
          <a:xfrm>
            <a:off x="7533105" y="-188201"/>
            <a:ext cx="1392989" cy="10353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6"/>
          <p:cNvSpPr txBox="1">
            <a:spLocks noGrp="1"/>
          </p:cNvSpPr>
          <p:nvPr>
            <p:ph type="title"/>
          </p:nvPr>
        </p:nvSpPr>
        <p:spPr>
          <a:xfrm>
            <a:off x="720000" y="794275"/>
            <a:ext cx="2617932" cy="618213"/>
          </a:xfrm>
          <a:prstGeom prst="rect">
            <a:avLst/>
          </a:prstGeom>
        </p:spPr>
        <p:txBody>
          <a:bodyPr spcFirstLastPara="1" wrap="square" lIns="91425" tIns="91425" rIns="91425" bIns="91425" anchor="t" anchorCtr="0">
            <a:noAutofit/>
          </a:bodyPr>
          <a:lstStyle/>
          <a:p>
            <a:r>
              <a:rPr lang="en-IN" dirty="0"/>
              <a:t>Novelty</a:t>
            </a:r>
          </a:p>
        </p:txBody>
      </p:sp>
      <p:sp>
        <p:nvSpPr>
          <p:cNvPr id="458" name="Google Shape;458;p46"/>
          <p:cNvSpPr txBox="1">
            <a:spLocks noGrp="1"/>
          </p:cNvSpPr>
          <p:nvPr>
            <p:ph type="subTitle" idx="1"/>
          </p:nvPr>
        </p:nvSpPr>
        <p:spPr>
          <a:xfrm>
            <a:off x="720000" y="1696118"/>
            <a:ext cx="7673151" cy="2139901"/>
          </a:xfrm>
          <a:prstGeom prst="rect">
            <a:avLst/>
          </a:prstGeom>
        </p:spPr>
        <p:txBody>
          <a:bodyPr spcFirstLastPara="1" wrap="square" lIns="91425" tIns="91425" rIns="91425" bIns="91425" anchor="t" anchorCtr="0">
            <a:noAutofit/>
          </a:bodyPr>
          <a:lstStyle/>
          <a:p>
            <a:r>
              <a:rPr lang="en-IN" dirty="0"/>
              <a:t>Unlike conventional document QA systems, our proposed framework emphasizes </a:t>
            </a:r>
            <a:r>
              <a:rPr lang="en-IN" b="1" dirty="0"/>
              <a:t>transparency, reasoning, and explainability</a:t>
            </a:r>
            <a:r>
              <a:rPr lang="en-IN" dirty="0"/>
              <a:t>.</a:t>
            </a:r>
          </a:p>
          <a:p>
            <a:r>
              <a:rPr lang="en-IN" dirty="0"/>
              <a:t>Key novel aspects include:</a:t>
            </a:r>
          </a:p>
          <a:p>
            <a:pPr lvl="0"/>
            <a:r>
              <a:rPr lang="en-IN" dirty="0"/>
              <a:t>Combining Adaptive Hybrid Retrieval with Explainable AI. </a:t>
            </a:r>
          </a:p>
          <a:p>
            <a:pPr lvl="0"/>
            <a:r>
              <a:rPr lang="en-IN" dirty="0"/>
              <a:t>Cross-document conflict and consensus analysis. </a:t>
            </a:r>
          </a:p>
          <a:p>
            <a:pPr lvl="0"/>
            <a:r>
              <a:rPr lang="en-IN" dirty="0"/>
              <a:t>Evidence strength estimation based on multiple supporting sources. </a:t>
            </a:r>
          </a:p>
          <a:p>
            <a:pPr lvl="0"/>
            <a:r>
              <a:rPr lang="en-IN" dirty="0"/>
              <a:t>Interactive highlighted evidence within original documents. </a:t>
            </a:r>
          </a:p>
          <a:p>
            <a:pPr lvl="0"/>
            <a:r>
              <a:rPr lang="en-IN" dirty="0"/>
              <a:t>A unified platform for question answering, summarization, and document intelligence. </a:t>
            </a:r>
          </a:p>
        </p:txBody>
      </p:sp>
      <p:pic>
        <p:nvPicPr>
          <p:cNvPr id="3" name="Picture 2" descr="MAPS &amp; DIRECTIONS - Best Private University in Telangana ...">
            <a:extLst>
              <a:ext uri="{FF2B5EF4-FFF2-40B4-BE49-F238E27FC236}">
                <a16:creationId xmlns:a16="http://schemas.microsoft.com/office/drawing/2014/main" id="{D4EF47BD-A2AB-11F3-CF01-B2FA9893D47A}"/>
              </a:ext>
            </a:extLst>
          </p:cNvPr>
          <p:cNvPicPr>
            <a:picLocks noChangeAspect="1"/>
          </p:cNvPicPr>
          <p:nvPr/>
        </p:nvPicPr>
        <p:blipFill>
          <a:blip r:embed="rId3"/>
          <a:stretch>
            <a:fillRect/>
          </a:stretch>
        </p:blipFill>
        <p:spPr>
          <a:xfrm>
            <a:off x="7533105" y="-188201"/>
            <a:ext cx="1392989" cy="103538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Feasibility</a:t>
            </a:r>
            <a:endParaRPr dirty="0"/>
          </a:p>
        </p:txBody>
      </p:sp>
      <p:sp>
        <p:nvSpPr>
          <p:cNvPr id="21" name="Subtitle 20">
            <a:extLst>
              <a:ext uri="{FF2B5EF4-FFF2-40B4-BE49-F238E27FC236}">
                <a16:creationId xmlns:a16="http://schemas.microsoft.com/office/drawing/2014/main" id="{3F8B06EF-3736-DE60-10C5-FECEDEC53365}"/>
              </a:ext>
            </a:extLst>
          </p:cNvPr>
          <p:cNvSpPr>
            <a:spLocks noGrp="1"/>
          </p:cNvSpPr>
          <p:nvPr>
            <p:ph type="subTitle" idx="4"/>
          </p:nvPr>
        </p:nvSpPr>
        <p:spPr>
          <a:xfrm>
            <a:off x="926188" y="1865982"/>
            <a:ext cx="2634768" cy="2408651"/>
          </a:xfrm>
        </p:spPr>
        <p:txBody>
          <a:bodyPr/>
          <a:lstStyle/>
          <a:p>
            <a:pPr lvl="0">
              <a:buFont typeface="Arial" panose="020B0604020202020204" pitchFamily="34" charset="0"/>
              <a:buChar char="•"/>
            </a:pPr>
            <a:r>
              <a:rPr lang="en-IN" dirty="0"/>
              <a:t>Python </a:t>
            </a:r>
          </a:p>
          <a:p>
            <a:pPr lvl="0">
              <a:buFont typeface="Arial" panose="020B0604020202020204" pitchFamily="34" charset="0"/>
              <a:buChar char="•"/>
            </a:pPr>
            <a:r>
              <a:rPr lang="en-IN" dirty="0" err="1"/>
              <a:t>LangChain</a:t>
            </a:r>
            <a:r>
              <a:rPr lang="en-IN" dirty="0"/>
              <a:t> </a:t>
            </a:r>
          </a:p>
          <a:p>
            <a:pPr lvl="0">
              <a:buFont typeface="Arial" panose="020B0604020202020204" pitchFamily="34" charset="0"/>
              <a:buChar char="•"/>
            </a:pPr>
            <a:r>
              <a:rPr lang="en-IN" dirty="0"/>
              <a:t>Sentence Transformers </a:t>
            </a:r>
          </a:p>
          <a:p>
            <a:pPr lvl="0">
              <a:buFont typeface="Arial" panose="020B0604020202020204" pitchFamily="34" charset="0"/>
              <a:buChar char="•"/>
            </a:pPr>
            <a:r>
              <a:rPr lang="en-IN" dirty="0"/>
              <a:t>FAISS </a:t>
            </a:r>
          </a:p>
          <a:p>
            <a:pPr lvl="0">
              <a:buFont typeface="Arial" panose="020B0604020202020204" pitchFamily="34" charset="0"/>
              <a:buChar char="•"/>
            </a:pPr>
            <a:r>
              <a:rPr lang="en-IN" dirty="0"/>
              <a:t>BM25 </a:t>
            </a:r>
          </a:p>
          <a:p>
            <a:pPr lvl="0">
              <a:buFont typeface="Arial" panose="020B0604020202020204" pitchFamily="34" charset="0"/>
              <a:buChar char="•"/>
            </a:pPr>
            <a:r>
              <a:rPr lang="en-IN" dirty="0"/>
              <a:t>Llama 3 / Mistral </a:t>
            </a:r>
          </a:p>
          <a:p>
            <a:pPr lvl="0">
              <a:buFont typeface="Arial" panose="020B0604020202020204" pitchFamily="34" charset="0"/>
              <a:buChar char="•"/>
            </a:pPr>
            <a:r>
              <a:rPr lang="en-IN" dirty="0" err="1"/>
              <a:t>FastAPI</a:t>
            </a:r>
            <a:r>
              <a:rPr lang="en-IN" dirty="0"/>
              <a:t> </a:t>
            </a:r>
          </a:p>
          <a:p>
            <a:pPr lvl="0">
              <a:buFont typeface="Arial" panose="020B0604020202020204" pitchFamily="34" charset="0"/>
              <a:buChar char="•"/>
            </a:pPr>
            <a:r>
              <a:rPr lang="en-IN" dirty="0" err="1"/>
              <a:t>Streamlit</a:t>
            </a:r>
            <a:endParaRPr lang="en-IN" dirty="0"/>
          </a:p>
          <a:p>
            <a:pPr>
              <a:buFont typeface="Arial" panose="020B0604020202020204" pitchFamily="34" charset="0"/>
              <a:buChar char="•"/>
            </a:pPr>
            <a:endParaRPr lang="en-IN" dirty="0"/>
          </a:p>
        </p:txBody>
      </p:sp>
      <p:sp>
        <p:nvSpPr>
          <p:cNvPr id="25" name="Subtitle 24">
            <a:extLst>
              <a:ext uri="{FF2B5EF4-FFF2-40B4-BE49-F238E27FC236}">
                <a16:creationId xmlns:a16="http://schemas.microsoft.com/office/drawing/2014/main" id="{CB79567C-4CA3-5BC6-B556-FAA30EE364C9}"/>
              </a:ext>
            </a:extLst>
          </p:cNvPr>
          <p:cNvSpPr>
            <a:spLocks noGrp="1"/>
          </p:cNvSpPr>
          <p:nvPr>
            <p:ph type="subTitle" idx="15"/>
          </p:nvPr>
        </p:nvSpPr>
        <p:spPr>
          <a:xfrm>
            <a:off x="802618" y="1381182"/>
            <a:ext cx="3367939" cy="484800"/>
          </a:xfrm>
        </p:spPr>
        <p:txBody>
          <a:bodyPr/>
          <a:lstStyle/>
          <a:p>
            <a:r>
              <a:rPr lang="en-IN" dirty="0"/>
              <a:t>Technical Feasibility</a:t>
            </a:r>
          </a:p>
        </p:txBody>
      </p:sp>
      <p:pic>
        <p:nvPicPr>
          <p:cNvPr id="3" name="Picture 2" descr="MAPS &amp; DIRECTIONS - Best Private University in Telangana ...">
            <a:extLst>
              <a:ext uri="{FF2B5EF4-FFF2-40B4-BE49-F238E27FC236}">
                <a16:creationId xmlns:a16="http://schemas.microsoft.com/office/drawing/2014/main" id="{77736796-293E-F1ED-7CD1-8087BBD6E906}"/>
              </a:ext>
            </a:extLst>
          </p:cNvPr>
          <p:cNvPicPr>
            <a:picLocks noChangeAspect="1"/>
          </p:cNvPicPr>
          <p:nvPr/>
        </p:nvPicPr>
        <p:blipFill>
          <a:blip r:embed="rId3"/>
          <a:stretch>
            <a:fillRect/>
          </a:stretch>
        </p:blipFill>
        <p:spPr>
          <a:xfrm>
            <a:off x="7533105" y="-188201"/>
            <a:ext cx="1392989" cy="10353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7">
          <a:extLst>
            <a:ext uri="{FF2B5EF4-FFF2-40B4-BE49-F238E27FC236}">
              <a16:creationId xmlns:a16="http://schemas.microsoft.com/office/drawing/2014/main" id="{FAAFB6BD-9A24-FBE2-042B-F42C2FC12C46}"/>
            </a:ext>
          </a:extLst>
        </p:cNvPr>
        <p:cNvGrpSpPr/>
        <p:nvPr/>
      </p:nvGrpSpPr>
      <p:grpSpPr>
        <a:xfrm>
          <a:off x="0" y="0"/>
          <a:ext cx="0" cy="0"/>
          <a:chOff x="0" y="0"/>
          <a:chExt cx="0" cy="0"/>
        </a:xfrm>
      </p:grpSpPr>
      <p:sp>
        <p:nvSpPr>
          <p:cNvPr id="408" name="Google Shape;408;p42">
            <a:extLst>
              <a:ext uri="{FF2B5EF4-FFF2-40B4-BE49-F238E27FC236}">
                <a16:creationId xmlns:a16="http://schemas.microsoft.com/office/drawing/2014/main" id="{0A42ABD4-F1D1-9358-E319-697B3C829F9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Feasibility</a:t>
            </a:r>
            <a:endParaRPr dirty="0"/>
          </a:p>
        </p:txBody>
      </p:sp>
      <p:sp>
        <p:nvSpPr>
          <p:cNvPr id="21" name="Subtitle 20">
            <a:extLst>
              <a:ext uri="{FF2B5EF4-FFF2-40B4-BE49-F238E27FC236}">
                <a16:creationId xmlns:a16="http://schemas.microsoft.com/office/drawing/2014/main" id="{8CE9DD85-2E5B-09A5-01C0-E44054B84590}"/>
              </a:ext>
            </a:extLst>
          </p:cNvPr>
          <p:cNvSpPr>
            <a:spLocks noGrp="1"/>
          </p:cNvSpPr>
          <p:nvPr>
            <p:ph type="subTitle" idx="4"/>
          </p:nvPr>
        </p:nvSpPr>
        <p:spPr>
          <a:xfrm>
            <a:off x="636257" y="1248478"/>
            <a:ext cx="7392622" cy="2408651"/>
          </a:xfrm>
        </p:spPr>
        <p:txBody>
          <a:bodyPr/>
          <a:lstStyle/>
          <a:p>
            <a:r>
              <a:rPr lang="en-IN" sz="1800" b="1" dirty="0">
                <a:latin typeface="IBM Plex Mono" panose="020B0509050203000203" pitchFamily="49" charset="0"/>
              </a:rPr>
              <a:t>Operational Feasibility</a:t>
            </a:r>
          </a:p>
          <a:p>
            <a:pPr lvl="0"/>
            <a:r>
              <a:rPr lang="en-IN" dirty="0"/>
              <a:t>Supports common document formats (PDF, DOCX, TXT). </a:t>
            </a:r>
          </a:p>
          <a:p>
            <a:pPr lvl="0"/>
            <a:r>
              <a:rPr lang="en-IN" dirty="0"/>
              <a:t>User-friendly interface requiring minimal technical knowledge. </a:t>
            </a:r>
          </a:p>
          <a:p>
            <a:pPr lvl="0"/>
            <a:endParaRPr lang="en-IN" dirty="0"/>
          </a:p>
          <a:p>
            <a:r>
              <a:rPr lang="en-IN" sz="1800" b="1" dirty="0">
                <a:latin typeface="IBM Plex Mono" panose="020B0509050203000203" pitchFamily="49" charset="0"/>
              </a:rPr>
              <a:t>Economic Feasibility</a:t>
            </a:r>
          </a:p>
          <a:p>
            <a:pPr lvl="0"/>
            <a:r>
              <a:rPr lang="en-IN" dirty="0"/>
              <a:t>Built entirely using open-source frameworks and models. </a:t>
            </a:r>
          </a:p>
          <a:p>
            <a:pPr lvl="0"/>
            <a:r>
              <a:rPr lang="en-IN" dirty="0"/>
              <a:t>No expensive commercial software required. </a:t>
            </a:r>
          </a:p>
          <a:p>
            <a:pPr lvl="0"/>
            <a:endParaRPr lang="en-IN" dirty="0"/>
          </a:p>
          <a:p>
            <a:r>
              <a:rPr lang="en-IN" sz="1800" b="1" dirty="0">
                <a:latin typeface="IBM Plex Mono" panose="020B0509050203000203" pitchFamily="49" charset="0"/>
              </a:rPr>
              <a:t>Implementation Feasibility</a:t>
            </a:r>
          </a:p>
          <a:p>
            <a:pPr lvl="0"/>
            <a:r>
              <a:rPr lang="en-IN" dirty="0"/>
              <a:t>Modular architecture enables phased development within the </a:t>
            </a:r>
            <a:r>
              <a:rPr lang="en-IN" dirty="0" err="1"/>
              <a:t>B.Tech</a:t>
            </a:r>
            <a:r>
              <a:rPr lang="en-IN" dirty="0"/>
              <a:t> project timeline. </a:t>
            </a:r>
          </a:p>
        </p:txBody>
      </p:sp>
      <p:pic>
        <p:nvPicPr>
          <p:cNvPr id="3" name="Picture 2" descr="MAPS &amp; DIRECTIONS - Best Private University in Telangana ...">
            <a:extLst>
              <a:ext uri="{FF2B5EF4-FFF2-40B4-BE49-F238E27FC236}">
                <a16:creationId xmlns:a16="http://schemas.microsoft.com/office/drawing/2014/main" id="{918DD8D9-5C9E-2781-5165-0B711C635901}"/>
              </a:ext>
            </a:extLst>
          </p:cNvPr>
          <p:cNvPicPr>
            <a:picLocks noChangeAspect="1"/>
          </p:cNvPicPr>
          <p:nvPr/>
        </p:nvPicPr>
        <p:blipFill>
          <a:blip r:embed="rId3"/>
          <a:stretch>
            <a:fillRect/>
          </a:stretch>
        </p:blipFill>
        <p:spPr>
          <a:xfrm>
            <a:off x="7533105" y="-188201"/>
            <a:ext cx="1392989" cy="1035386"/>
          </a:xfrm>
          <a:prstGeom prst="rect">
            <a:avLst/>
          </a:prstGeom>
        </p:spPr>
      </p:pic>
    </p:spTree>
    <p:extLst>
      <p:ext uri="{BB962C8B-B14F-4D97-AF65-F5344CB8AC3E}">
        <p14:creationId xmlns:p14="http://schemas.microsoft.com/office/powerpoint/2010/main" val="3338076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grpSp>
        <p:nvGrpSpPr>
          <p:cNvPr id="529" name="Google Shape;529;p51"/>
          <p:cNvGrpSpPr/>
          <p:nvPr/>
        </p:nvGrpSpPr>
        <p:grpSpPr>
          <a:xfrm>
            <a:off x="870025" y="401112"/>
            <a:ext cx="7404024" cy="4341275"/>
            <a:chOff x="870025" y="401112"/>
            <a:chExt cx="7404024" cy="4341275"/>
          </a:xfrm>
        </p:grpSpPr>
        <p:pic>
          <p:nvPicPr>
            <p:cNvPr id="530" name="Google Shape;530;p51"/>
            <p:cNvPicPr preferRelativeResize="0"/>
            <p:nvPr/>
          </p:nvPicPr>
          <p:blipFill rotWithShape="1">
            <a:blip r:embed="rId3">
              <a:alphaModFix amt="92000"/>
            </a:blip>
            <a:srcRect t="1320" b="-1320"/>
            <a:stretch/>
          </p:blipFill>
          <p:spPr>
            <a:xfrm>
              <a:off x="870025" y="401112"/>
              <a:ext cx="7404024" cy="4341275"/>
            </a:xfrm>
            <a:prstGeom prst="rect">
              <a:avLst/>
            </a:prstGeom>
            <a:noFill/>
            <a:ln>
              <a:noFill/>
            </a:ln>
          </p:spPr>
        </p:pic>
        <p:pic>
          <p:nvPicPr>
            <p:cNvPr id="531" name="Google Shape;531;p51"/>
            <p:cNvPicPr preferRelativeResize="0"/>
            <p:nvPr/>
          </p:nvPicPr>
          <p:blipFill>
            <a:blip r:embed="rId4">
              <a:alphaModFix/>
            </a:blip>
            <a:stretch>
              <a:fillRect/>
            </a:stretch>
          </p:blipFill>
          <p:spPr>
            <a:xfrm>
              <a:off x="3338164" y="539509"/>
              <a:ext cx="2467774" cy="462933"/>
            </a:xfrm>
            <a:prstGeom prst="rect">
              <a:avLst/>
            </a:prstGeom>
            <a:noFill/>
            <a:ln>
              <a:noFill/>
            </a:ln>
          </p:spPr>
        </p:pic>
        <p:pic>
          <p:nvPicPr>
            <p:cNvPr id="532" name="Google Shape;532;p51"/>
            <p:cNvPicPr preferRelativeResize="0"/>
            <p:nvPr/>
          </p:nvPicPr>
          <p:blipFill>
            <a:blip r:embed="rId4">
              <a:alphaModFix/>
            </a:blip>
            <a:stretch>
              <a:fillRect/>
            </a:stretch>
          </p:blipFill>
          <p:spPr>
            <a:xfrm rot="10800000" flipH="1">
              <a:off x="3338164" y="4141059"/>
              <a:ext cx="2467774" cy="462933"/>
            </a:xfrm>
            <a:prstGeom prst="rect">
              <a:avLst/>
            </a:prstGeom>
            <a:noFill/>
            <a:ln>
              <a:noFill/>
            </a:ln>
          </p:spPr>
        </p:pic>
      </p:grpSp>
      <p:sp>
        <p:nvSpPr>
          <p:cNvPr id="533" name="Google Shape;533;p51"/>
          <p:cNvSpPr txBox="1">
            <a:spLocks noGrp="1"/>
          </p:cNvSpPr>
          <p:nvPr>
            <p:ph type="title"/>
          </p:nvPr>
        </p:nvSpPr>
        <p:spPr>
          <a:xfrm>
            <a:off x="2298600" y="1619250"/>
            <a:ext cx="4546800" cy="1849500"/>
          </a:xfrm>
          <a:prstGeom prst="rect">
            <a:avLst/>
          </a:prstGeom>
        </p:spPr>
        <p:txBody>
          <a:bodyPr spcFirstLastPara="1" wrap="square" lIns="91425" tIns="91425" rIns="91425" bIns="91425" anchor="ctr" anchorCtr="0">
            <a:noAutofit/>
          </a:bodyPr>
          <a:lstStyle/>
          <a:p>
            <a:pPr lvl="0"/>
            <a:r>
              <a:rPr lang="en-IN" dirty="0">
                <a:solidFill>
                  <a:schemeClr val="tx1"/>
                </a:solidFill>
              </a:rPr>
              <a:t>Project</a:t>
            </a:r>
            <a:r>
              <a:rPr lang="en-IN" dirty="0"/>
              <a:t> Plan</a:t>
            </a:r>
            <a:endParaRPr dirty="0">
              <a:solidFill>
                <a:schemeClr val="dk1"/>
              </a:solidFill>
            </a:endParaRPr>
          </a:p>
        </p:txBody>
      </p:sp>
      <p:pic>
        <p:nvPicPr>
          <p:cNvPr id="3" name="Picture 2" descr="MAPS &amp; DIRECTIONS - Best Private University in Telangana ...">
            <a:extLst>
              <a:ext uri="{FF2B5EF4-FFF2-40B4-BE49-F238E27FC236}">
                <a16:creationId xmlns:a16="http://schemas.microsoft.com/office/drawing/2014/main" id="{92F29D3D-2D57-F3C0-638A-4C40832F2767}"/>
              </a:ext>
            </a:extLst>
          </p:cNvPr>
          <p:cNvPicPr>
            <a:picLocks noChangeAspect="1"/>
          </p:cNvPicPr>
          <p:nvPr/>
        </p:nvPicPr>
        <p:blipFill>
          <a:blip r:embed="rId5"/>
          <a:stretch>
            <a:fillRect/>
          </a:stretch>
        </p:blipFill>
        <p:spPr>
          <a:xfrm>
            <a:off x="7666920" y="4151003"/>
            <a:ext cx="1013551" cy="7533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4" name="Google Shape;881;p72">
            <a:extLst>
              <a:ext uri="{FF2B5EF4-FFF2-40B4-BE49-F238E27FC236}">
                <a16:creationId xmlns:a16="http://schemas.microsoft.com/office/drawing/2014/main" id="{13D2655A-D26E-11FA-E9AB-DCE5827B9ECC}"/>
              </a:ext>
            </a:extLst>
          </p:cNvPr>
          <p:cNvSpPr txBox="1">
            <a:spLocks/>
          </p:cNvSpPr>
          <p:nvPr/>
        </p:nvSpPr>
        <p:spPr>
          <a:xfrm>
            <a:off x="765717" y="414991"/>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1</a:t>
            </a:r>
          </a:p>
        </p:txBody>
      </p:sp>
      <p:cxnSp>
        <p:nvCxnSpPr>
          <p:cNvPr id="5" name="Google Shape;888;p72">
            <a:extLst>
              <a:ext uri="{FF2B5EF4-FFF2-40B4-BE49-F238E27FC236}">
                <a16:creationId xmlns:a16="http://schemas.microsoft.com/office/drawing/2014/main" id="{A38A73FD-E689-447E-3E8C-56ECCB8567AF}"/>
              </a:ext>
            </a:extLst>
          </p:cNvPr>
          <p:cNvCxnSpPr>
            <a:cxnSpLocks/>
            <a:stCxn id="4" idx="3"/>
          </p:cNvCxnSpPr>
          <p:nvPr/>
        </p:nvCxnSpPr>
        <p:spPr>
          <a:xfrm>
            <a:off x="2032326" y="581791"/>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0" name="Google Shape;881;p72">
            <a:extLst>
              <a:ext uri="{FF2B5EF4-FFF2-40B4-BE49-F238E27FC236}">
                <a16:creationId xmlns:a16="http://schemas.microsoft.com/office/drawing/2014/main" id="{0718914F-CA83-3FE9-9002-EE42C31629CC}"/>
              </a:ext>
            </a:extLst>
          </p:cNvPr>
          <p:cNvSpPr txBox="1">
            <a:spLocks/>
          </p:cNvSpPr>
          <p:nvPr/>
        </p:nvSpPr>
        <p:spPr>
          <a:xfrm>
            <a:off x="765717" y="944308"/>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2</a:t>
            </a:r>
          </a:p>
        </p:txBody>
      </p:sp>
      <p:cxnSp>
        <p:nvCxnSpPr>
          <p:cNvPr id="11" name="Google Shape;888;p72">
            <a:extLst>
              <a:ext uri="{FF2B5EF4-FFF2-40B4-BE49-F238E27FC236}">
                <a16:creationId xmlns:a16="http://schemas.microsoft.com/office/drawing/2014/main" id="{9B6922B8-1CB1-CAFB-B269-6F4DCA2CB2D7}"/>
              </a:ext>
            </a:extLst>
          </p:cNvPr>
          <p:cNvCxnSpPr>
            <a:cxnSpLocks/>
            <a:stCxn id="10" idx="3"/>
          </p:cNvCxnSpPr>
          <p:nvPr/>
        </p:nvCxnSpPr>
        <p:spPr>
          <a:xfrm>
            <a:off x="2032326" y="1111108"/>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2" name="Google Shape;881;p72">
            <a:extLst>
              <a:ext uri="{FF2B5EF4-FFF2-40B4-BE49-F238E27FC236}">
                <a16:creationId xmlns:a16="http://schemas.microsoft.com/office/drawing/2014/main" id="{B072C114-1A32-BA98-DB9B-E210ECB05143}"/>
              </a:ext>
            </a:extLst>
          </p:cNvPr>
          <p:cNvSpPr txBox="1">
            <a:spLocks/>
          </p:cNvSpPr>
          <p:nvPr/>
        </p:nvSpPr>
        <p:spPr>
          <a:xfrm>
            <a:off x="765717" y="1486492"/>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3</a:t>
            </a:r>
          </a:p>
        </p:txBody>
      </p:sp>
      <p:cxnSp>
        <p:nvCxnSpPr>
          <p:cNvPr id="13" name="Google Shape;888;p72">
            <a:extLst>
              <a:ext uri="{FF2B5EF4-FFF2-40B4-BE49-F238E27FC236}">
                <a16:creationId xmlns:a16="http://schemas.microsoft.com/office/drawing/2014/main" id="{2966640E-C008-DADD-5F3E-2BA7B96E29C0}"/>
              </a:ext>
            </a:extLst>
          </p:cNvPr>
          <p:cNvCxnSpPr>
            <a:cxnSpLocks/>
            <a:stCxn id="12" idx="3"/>
          </p:cNvCxnSpPr>
          <p:nvPr/>
        </p:nvCxnSpPr>
        <p:spPr>
          <a:xfrm>
            <a:off x="2032326" y="1653292"/>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6" name="Google Shape;881;p72">
            <a:extLst>
              <a:ext uri="{FF2B5EF4-FFF2-40B4-BE49-F238E27FC236}">
                <a16:creationId xmlns:a16="http://schemas.microsoft.com/office/drawing/2014/main" id="{3D2567BD-6C52-FEDA-A487-D14CC936B514}"/>
              </a:ext>
            </a:extLst>
          </p:cNvPr>
          <p:cNvSpPr txBox="1">
            <a:spLocks/>
          </p:cNvSpPr>
          <p:nvPr/>
        </p:nvSpPr>
        <p:spPr>
          <a:xfrm>
            <a:off x="765717" y="2605024"/>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5</a:t>
            </a:r>
          </a:p>
        </p:txBody>
      </p:sp>
      <p:cxnSp>
        <p:nvCxnSpPr>
          <p:cNvPr id="17" name="Google Shape;888;p72">
            <a:extLst>
              <a:ext uri="{FF2B5EF4-FFF2-40B4-BE49-F238E27FC236}">
                <a16:creationId xmlns:a16="http://schemas.microsoft.com/office/drawing/2014/main" id="{014DE6D5-A341-B785-0E5B-EFDBCFA0C4C3}"/>
              </a:ext>
            </a:extLst>
          </p:cNvPr>
          <p:cNvCxnSpPr>
            <a:cxnSpLocks/>
            <a:stCxn id="16" idx="3"/>
          </p:cNvCxnSpPr>
          <p:nvPr/>
        </p:nvCxnSpPr>
        <p:spPr>
          <a:xfrm>
            <a:off x="2032326" y="2771824"/>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8" name="Google Shape;881;p72">
            <a:extLst>
              <a:ext uri="{FF2B5EF4-FFF2-40B4-BE49-F238E27FC236}">
                <a16:creationId xmlns:a16="http://schemas.microsoft.com/office/drawing/2014/main" id="{A20E812D-F728-D92D-9B8D-29348E29D399}"/>
              </a:ext>
            </a:extLst>
          </p:cNvPr>
          <p:cNvSpPr txBox="1">
            <a:spLocks/>
          </p:cNvSpPr>
          <p:nvPr/>
        </p:nvSpPr>
        <p:spPr>
          <a:xfrm>
            <a:off x="765717" y="3254542"/>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6</a:t>
            </a:r>
          </a:p>
        </p:txBody>
      </p:sp>
      <p:cxnSp>
        <p:nvCxnSpPr>
          <p:cNvPr id="19" name="Google Shape;888;p72">
            <a:extLst>
              <a:ext uri="{FF2B5EF4-FFF2-40B4-BE49-F238E27FC236}">
                <a16:creationId xmlns:a16="http://schemas.microsoft.com/office/drawing/2014/main" id="{94C80211-B2FD-7181-0555-08BED4FD33EF}"/>
              </a:ext>
            </a:extLst>
          </p:cNvPr>
          <p:cNvCxnSpPr>
            <a:cxnSpLocks/>
            <a:stCxn id="18" idx="3"/>
          </p:cNvCxnSpPr>
          <p:nvPr/>
        </p:nvCxnSpPr>
        <p:spPr>
          <a:xfrm>
            <a:off x="2032326" y="3421342"/>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20" name="Google Shape;881;p72">
            <a:extLst>
              <a:ext uri="{FF2B5EF4-FFF2-40B4-BE49-F238E27FC236}">
                <a16:creationId xmlns:a16="http://schemas.microsoft.com/office/drawing/2014/main" id="{6DBF115F-D842-0E41-0D50-9E021E8E1454}"/>
              </a:ext>
            </a:extLst>
          </p:cNvPr>
          <p:cNvSpPr txBox="1">
            <a:spLocks/>
          </p:cNvSpPr>
          <p:nvPr/>
        </p:nvSpPr>
        <p:spPr>
          <a:xfrm>
            <a:off x="765717" y="3921142"/>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7</a:t>
            </a:r>
          </a:p>
        </p:txBody>
      </p:sp>
      <p:cxnSp>
        <p:nvCxnSpPr>
          <p:cNvPr id="21" name="Google Shape;888;p72">
            <a:extLst>
              <a:ext uri="{FF2B5EF4-FFF2-40B4-BE49-F238E27FC236}">
                <a16:creationId xmlns:a16="http://schemas.microsoft.com/office/drawing/2014/main" id="{04CCCAFE-6F09-C460-2F21-510B73B39907}"/>
              </a:ext>
            </a:extLst>
          </p:cNvPr>
          <p:cNvCxnSpPr>
            <a:cxnSpLocks/>
            <a:stCxn id="20" idx="3"/>
          </p:cNvCxnSpPr>
          <p:nvPr/>
        </p:nvCxnSpPr>
        <p:spPr>
          <a:xfrm>
            <a:off x="2032326" y="4087942"/>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37" name="Google Shape;881;p72">
            <a:extLst>
              <a:ext uri="{FF2B5EF4-FFF2-40B4-BE49-F238E27FC236}">
                <a16:creationId xmlns:a16="http://schemas.microsoft.com/office/drawing/2014/main" id="{A8059222-473B-D3B4-1E4F-774465995796}"/>
              </a:ext>
            </a:extLst>
          </p:cNvPr>
          <p:cNvSpPr txBox="1">
            <a:spLocks/>
          </p:cNvSpPr>
          <p:nvPr/>
        </p:nvSpPr>
        <p:spPr>
          <a:xfrm>
            <a:off x="765717" y="2079146"/>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4</a:t>
            </a:r>
          </a:p>
        </p:txBody>
      </p:sp>
      <p:cxnSp>
        <p:nvCxnSpPr>
          <p:cNvPr id="38" name="Google Shape;888;p72">
            <a:extLst>
              <a:ext uri="{FF2B5EF4-FFF2-40B4-BE49-F238E27FC236}">
                <a16:creationId xmlns:a16="http://schemas.microsoft.com/office/drawing/2014/main" id="{9A63A809-B29D-515D-C2E1-D5046DE05C7E}"/>
              </a:ext>
            </a:extLst>
          </p:cNvPr>
          <p:cNvCxnSpPr>
            <a:cxnSpLocks/>
            <a:stCxn id="37" idx="3"/>
          </p:cNvCxnSpPr>
          <p:nvPr/>
        </p:nvCxnSpPr>
        <p:spPr>
          <a:xfrm>
            <a:off x="2032326" y="2245946"/>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41" name="Google Shape;881;p72">
            <a:extLst>
              <a:ext uri="{FF2B5EF4-FFF2-40B4-BE49-F238E27FC236}">
                <a16:creationId xmlns:a16="http://schemas.microsoft.com/office/drawing/2014/main" id="{3D55A0F9-F9F1-E35C-8DDA-B46A27E0DD99}"/>
              </a:ext>
            </a:extLst>
          </p:cNvPr>
          <p:cNvSpPr txBox="1">
            <a:spLocks/>
          </p:cNvSpPr>
          <p:nvPr/>
        </p:nvSpPr>
        <p:spPr>
          <a:xfrm>
            <a:off x="765717" y="4472499"/>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8</a:t>
            </a:r>
          </a:p>
        </p:txBody>
      </p:sp>
      <p:cxnSp>
        <p:nvCxnSpPr>
          <p:cNvPr id="42" name="Google Shape;888;p72">
            <a:extLst>
              <a:ext uri="{FF2B5EF4-FFF2-40B4-BE49-F238E27FC236}">
                <a16:creationId xmlns:a16="http://schemas.microsoft.com/office/drawing/2014/main" id="{D993612E-FD85-059F-1013-440362618778}"/>
              </a:ext>
            </a:extLst>
          </p:cNvPr>
          <p:cNvCxnSpPr>
            <a:cxnSpLocks/>
            <a:stCxn id="41" idx="3"/>
          </p:cNvCxnSpPr>
          <p:nvPr/>
        </p:nvCxnSpPr>
        <p:spPr>
          <a:xfrm>
            <a:off x="2032326" y="4639299"/>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43" name="Arrow: Down 42">
            <a:extLst>
              <a:ext uri="{FF2B5EF4-FFF2-40B4-BE49-F238E27FC236}">
                <a16:creationId xmlns:a16="http://schemas.microsoft.com/office/drawing/2014/main" id="{57694F10-FE6F-9020-CD46-3082B372E383}"/>
              </a:ext>
            </a:extLst>
          </p:cNvPr>
          <p:cNvSpPr/>
          <p:nvPr/>
        </p:nvSpPr>
        <p:spPr>
          <a:xfrm>
            <a:off x="2570044" y="712218"/>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Down 44">
            <a:extLst>
              <a:ext uri="{FF2B5EF4-FFF2-40B4-BE49-F238E27FC236}">
                <a16:creationId xmlns:a16="http://schemas.microsoft.com/office/drawing/2014/main" id="{707D6E06-917F-BC5A-E15F-6F35D5AC901C}"/>
              </a:ext>
            </a:extLst>
          </p:cNvPr>
          <p:cNvSpPr/>
          <p:nvPr/>
        </p:nvSpPr>
        <p:spPr>
          <a:xfrm>
            <a:off x="2570044" y="1336902"/>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Down 46">
            <a:extLst>
              <a:ext uri="{FF2B5EF4-FFF2-40B4-BE49-F238E27FC236}">
                <a16:creationId xmlns:a16="http://schemas.microsoft.com/office/drawing/2014/main" id="{09F6A433-0B9D-7B85-7CA5-C15713E91C61}"/>
              </a:ext>
            </a:extLst>
          </p:cNvPr>
          <p:cNvSpPr/>
          <p:nvPr/>
        </p:nvSpPr>
        <p:spPr>
          <a:xfrm>
            <a:off x="2570044" y="1887468"/>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Down 48">
            <a:extLst>
              <a:ext uri="{FF2B5EF4-FFF2-40B4-BE49-F238E27FC236}">
                <a16:creationId xmlns:a16="http://schemas.microsoft.com/office/drawing/2014/main" id="{FE9E0189-DB15-CAEA-DE58-CA4D70E3B88E}"/>
              </a:ext>
            </a:extLst>
          </p:cNvPr>
          <p:cNvSpPr/>
          <p:nvPr/>
        </p:nvSpPr>
        <p:spPr>
          <a:xfrm>
            <a:off x="2570044" y="2426085"/>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Arrow: Down 50">
            <a:extLst>
              <a:ext uri="{FF2B5EF4-FFF2-40B4-BE49-F238E27FC236}">
                <a16:creationId xmlns:a16="http://schemas.microsoft.com/office/drawing/2014/main" id="{C090B789-2477-77DF-B5C2-7C90292DD9F5}"/>
              </a:ext>
            </a:extLst>
          </p:cNvPr>
          <p:cNvSpPr/>
          <p:nvPr/>
        </p:nvSpPr>
        <p:spPr>
          <a:xfrm>
            <a:off x="2570044" y="2964702"/>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Arrow: Down 52">
            <a:extLst>
              <a:ext uri="{FF2B5EF4-FFF2-40B4-BE49-F238E27FC236}">
                <a16:creationId xmlns:a16="http://schemas.microsoft.com/office/drawing/2014/main" id="{2825A7FB-21C6-08FC-FBD4-3D79D4FF7BB2}"/>
              </a:ext>
            </a:extLst>
          </p:cNvPr>
          <p:cNvSpPr/>
          <p:nvPr/>
        </p:nvSpPr>
        <p:spPr>
          <a:xfrm>
            <a:off x="2570044" y="3683538"/>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Arrow: Down 54">
            <a:extLst>
              <a:ext uri="{FF2B5EF4-FFF2-40B4-BE49-F238E27FC236}">
                <a16:creationId xmlns:a16="http://schemas.microsoft.com/office/drawing/2014/main" id="{0723C276-ACE7-8F24-CDB2-0F6B76DC6387}"/>
              </a:ext>
            </a:extLst>
          </p:cNvPr>
          <p:cNvSpPr/>
          <p:nvPr/>
        </p:nvSpPr>
        <p:spPr>
          <a:xfrm>
            <a:off x="2570044" y="4363921"/>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008082F9-FFF9-4987-683E-9FB941E8CF6A}"/>
              </a:ext>
            </a:extLst>
          </p:cNvPr>
          <p:cNvSpPr txBox="1"/>
          <p:nvPr/>
        </p:nvSpPr>
        <p:spPr>
          <a:xfrm>
            <a:off x="3538368" y="440814"/>
            <a:ext cx="4735837" cy="307777"/>
          </a:xfrm>
          <a:prstGeom prst="rect">
            <a:avLst/>
          </a:prstGeom>
          <a:noFill/>
        </p:spPr>
        <p:txBody>
          <a:bodyPr wrap="square" rtlCol="0">
            <a:spAutoFit/>
          </a:bodyPr>
          <a:lstStyle/>
          <a:p>
            <a:r>
              <a:rPr lang="en-IN" dirty="0">
                <a:latin typeface="IBM Plex Mono" panose="020B0509050203000203" pitchFamily="49" charset="0"/>
              </a:rPr>
              <a:t>Literature Survey &amp; Requirement Analysis</a:t>
            </a:r>
          </a:p>
        </p:txBody>
      </p:sp>
      <p:sp>
        <p:nvSpPr>
          <p:cNvPr id="58" name="TextBox 57">
            <a:extLst>
              <a:ext uri="{FF2B5EF4-FFF2-40B4-BE49-F238E27FC236}">
                <a16:creationId xmlns:a16="http://schemas.microsoft.com/office/drawing/2014/main" id="{835B8A84-F0F6-E76C-B77B-FEB2FC17B146}"/>
              </a:ext>
            </a:extLst>
          </p:cNvPr>
          <p:cNvSpPr txBox="1"/>
          <p:nvPr/>
        </p:nvSpPr>
        <p:spPr>
          <a:xfrm>
            <a:off x="3538368" y="948391"/>
            <a:ext cx="4919830" cy="307777"/>
          </a:xfrm>
          <a:prstGeom prst="rect">
            <a:avLst/>
          </a:prstGeom>
          <a:noFill/>
        </p:spPr>
        <p:txBody>
          <a:bodyPr wrap="square">
            <a:spAutoFit/>
          </a:bodyPr>
          <a:lstStyle/>
          <a:p>
            <a:r>
              <a:rPr lang="en-IN" dirty="0">
                <a:latin typeface="IBM Plex Mono" panose="020B0509050203000203" pitchFamily="49" charset="0"/>
              </a:rPr>
              <a:t>Document Processing &amp; Text Extraction</a:t>
            </a:r>
          </a:p>
        </p:txBody>
      </p:sp>
      <p:sp>
        <p:nvSpPr>
          <p:cNvPr id="60" name="TextBox 59">
            <a:extLst>
              <a:ext uri="{FF2B5EF4-FFF2-40B4-BE49-F238E27FC236}">
                <a16:creationId xmlns:a16="http://schemas.microsoft.com/office/drawing/2014/main" id="{F09A94E0-6784-99F6-7ECB-9EE35FC66148}"/>
              </a:ext>
            </a:extLst>
          </p:cNvPr>
          <p:cNvSpPr txBox="1"/>
          <p:nvPr/>
        </p:nvSpPr>
        <p:spPr>
          <a:xfrm>
            <a:off x="3538368" y="1486492"/>
            <a:ext cx="4919830" cy="307777"/>
          </a:xfrm>
          <a:prstGeom prst="rect">
            <a:avLst/>
          </a:prstGeom>
          <a:noFill/>
        </p:spPr>
        <p:txBody>
          <a:bodyPr wrap="square">
            <a:spAutoFit/>
          </a:bodyPr>
          <a:lstStyle/>
          <a:p>
            <a:r>
              <a:rPr lang="en-IN">
                <a:latin typeface="IBM Plex Mono" panose="020B0509050203000203" pitchFamily="49" charset="0"/>
              </a:rPr>
              <a:t>Embedding Generation &amp; Hybrid Retrieval</a:t>
            </a:r>
            <a:endParaRPr lang="en-IN" dirty="0">
              <a:latin typeface="IBM Plex Mono" panose="020B0509050203000203" pitchFamily="49" charset="0"/>
            </a:endParaRPr>
          </a:p>
        </p:txBody>
      </p:sp>
      <p:sp>
        <p:nvSpPr>
          <p:cNvPr id="62" name="TextBox 61">
            <a:extLst>
              <a:ext uri="{FF2B5EF4-FFF2-40B4-BE49-F238E27FC236}">
                <a16:creationId xmlns:a16="http://schemas.microsoft.com/office/drawing/2014/main" id="{DECAB604-FB55-9974-4845-56ECED238102}"/>
              </a:ext>
            </a:extLst>
          </p:cNvPr>
          <p:cNvSpPr txBox="1"/>
          <p:nvPr/>
        </p:nvSpPr>
        <p:spPr>
          <a:xfrm>
            <a:off x="3538368" y="2104969"/>
            <a:ext cx="4919830" cy="307777"/>
          </a:xfrm>
          <a:prstGeom prst="rect">
            <a:avLst/>
          </a:prstGeom>
          <a:noFill/>
        </p:spPr>
        <p:txBody>
          <a:bodyPr wrap="square">
            <a:spAutoFit/>
          </a:bodyPr>
          <a:lstStyle/>
          <a:p>
            <a:r>
              <a:rPr lang="en-IN" dirty="0">
                <a:latin typeface="IBM Plex Mono" panose="020B0509050203000203" pitchFamily="49" charset="0"/>
              </a:rPr>
              <a:t>LLM Integration</a:t>
            </a:r>
          </a:p>
        </p:txBody>
      </p:sp>
      <p:sp>
        <p:nvSpPr>
          <p:cNvPr id="922" name="TextBox 921">
            <a:extLst>
              <a:ext uri="{FF2B5EF4-FFF2-40B4-BE49-F238E27FC236}">
                <a16:creationId xmlns:a16="http://schemas.microsoft.com/office/drawing/2014/main" id="{26E7F2B0-961C-FDE9-836A-8218079A4BD3}"/>
              </a:ext>
            </a:extLst>
          </p:cNvPr>
          <p:cNvSpPr txBox="1"/>
          <p:nvPr/>
        </p:nvSpPr>
        <p:spPr>
          <a:xfrm>
            <a:off x="3538368" y="2579970"/>
            <a:ext cx="4919830" cy="307777"/>
          </a:xfrm>
          <a:prstGeom prst="rect">
            <a:avLst/>
          </a:prstGeom>
          <a:noFill/>
        </p:spPr>
        <p:txBody>
          <a:bodyPr wrap="square">
            <a:spAutoFit/>
          </a:bodyPr>
          <a:lstStyle/>
          <a:p>
            <a:r>
              <a:rPr lang="en-IN" dirty="0">
                <a:latin typeface="IBM Plex Mono" panose="020B0509050203000203" pitchFamily="49" charset="0"/>
              </a:rPr>
              <a:t>Cross-Document Intelligence Module</a:t>
            </a:r>
          </a:p>
        </p:txBody>
      </p:sp>
      <p:graphicFrame>
        <p:nvGraphicFramePr>
          <p:cNvPr id="923" name="Table 922">
            <a:extLst>
              <a:ext uri="{FF2B5EF4-FFF2-40B4-BE49-F238E27FC236}">
                <a16:creationId xmlns:a16="http://schemas.microsoft.com/office/drawing/2014/main" id="{7BAA22A6-6DD6-D416-ECDC-47F286DCB8FB}"/>
              </a:ext>
            </a:extLst>
          </p:cNvPr>
          <p:cNvGraphicFramePr>
            <a:graphicFrameLocks noGrp="1"/>
          </p:cNvGraphicFramePr>
          <p:nvPr/>
        </p:nvGraphicFramePr>
        <p:xfrm>
          <a:off x="712788" y="2708275"/>
          <a:ext cx="7718425" cy="304800"/>
        </p:xfrm>
        <a:graphic>
          <a:graphicData uri="http://schemas.openxmlformats.org/drawingml/2006/table">
            <a:tbl>
              <a:tblPr/>
              <a:tblGrid>
                <a:gridCol w="7718425">
                  <a:extLst>
                    <a:ext uri="{9D8B030D-6E8A-4147-A177-3AD203B41FA5}">
                      <a16:colId xmlns:a16="http://schemas.microsoft.com/office/drawing/2014/main" val="1398377716"/>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779442758"/>
                  </a:ext>
                </a:extLst>
              </a:tr>
            </a:tbl>
          </a:graphicData>
        </a:graphic>
      </p:graphicFrame>
      <p:graphicFrame>
        <p:nvGraphicFramePr>
          <p:cNvPr id="924" name="Table 923">
            <a:extLst>
              <a:ext uri="{FF2B5EF4-FFF2-40B4-BE49-F238E27FC236}">
                <a16:creationId xmlns:a16="http://schemas.microsoft.com/office/drawing/2014/main" id="{2C47822A-3923-FC95-87C7-E947542A4C68}"/>
              </a:ext>
            </a:extLst>
          </p:cNvPr>
          <p:cNvGraphicFramePr>
            <a:graphicFrameLocks noGrp="1"/>
          </p:cNvGraphicFramePr>
          <p:nvPr>
            <p:extLst>
              <p:ext uri="{D42A27DB-BD31-4B8C-83A1-F6EECF244321}">
                <p14:modId xmlns:p14="http://schemas.microsoft.com/office/powerpoint/2010/main" val="2286092177"/>
              </p:ext>
            </p:extLst>
          </p:nvPr>
        </p:nvGraphicFramePr>
        <p:xfrm>
          <a:off x="3538368" y="3272780"/>
          <a:ext cx="7718425" cy="304800"/>
        </p:xfrm>
        <a:graphic>
          <a:graphicData uri="http://schemas.openxmlformats.org/drawingml/2006/table">
            <a:tbl>
              <a:tblPr/>
              <a:tblGrid>
                <a:gridCol w="7718425">
                  <a:extLst>
                    <a:ext uri="{9D8B030D-6E8A-4147-A177-3AD203B41FA5}">
                      <a16:colId xmlns:a16="http://schemas.microsoft.com/office/drawing/2014/main" val="615776285"/>
                    </a:ext>
                  </a:extLst>
                </a:gridCol>
              </a:tblGrid>
              <a:tr h="0">
                <a:tc>
                  <a:txBody>
                    <a:bodyPr/>
                    <a:lstStyle/>
                    <a:p>
                      <a:pPr>
                        <a:buNone/>
                      </a:pPr>
                      <a:r>
                        <a:rPr lang="en-IN" dirty="0">
                          <a:latin typeface="IBM Plex Mono" panose="020B0509050203000203" pitchFamily="49" charset="0"/>
                        </a:rPr>
                        <a:t>Explainable Evidence Navigation</a:t>
                      </a:r>
                    </a:p>
                  </a:txBody>
                  <a:tcPr anchor="ctr">
                    <a:lnL>
                      <a:noFill/>
                    </a:lnL>
                    <a:lnR>
                      <a:noFill/>
                    </a:lnR>
                    <a:lnT>
                      <a:noFill/>
                    </a:lnT>
                    <a:lnB>
                      <a:noFill/>
                    </a:lnB>
                    <a:noFill/>
                  </a:tcPr>
                </a:tc>
                <a:extLst>
                  <a:ext uri="{0D108BD9-81ED-4DB2-BD59-A6C34878D82A}">
                    <a16:rowId xmlns:a16="http://schemas.microsoft.com/office/drawing/2014/main" val="1711102075"/>
                  </a:ext>
                </a:extLst>
              </a:tr>
            </a:tbl>
          </a:graphicData>
        </a:graphic>
      </p:graphicFrame>
      <p:sp>
        <p:nvSpPr>
          <p:cNvPr id="926" name="TextBox 925">
            <a:extLst>
              <a:ext uri="{FF2B5EF4-FFF2-40B4-BE49-F238E27FC236}">
                <a16:creationId xmlns:a16="http://schemas.microsoft.com/office/drawing/2014/main" id="{BF9A8447-BB31-AF6C-5517-C426946680E8}"/>
              </a:ext>
            </a:extLst>
          </p:cNvPr>
          <p:cNvSpPr txBox="1"/>
          <p:nvPr/>
        </p:nvSpPr>
        <p:spPr>
          <a:xfrm>
            <a:off x="3538367" y="3913569"/>
            <a:ext cx="6059791" cy="307777"/>
          </a:xfrm>
          <a:prstGeom prst="rect">
            <a:avLst/>
          </a:prstGeom>
          <a:noFill/>
        </p:spPr>
        <p:txBody>
          <a:bodyPr wrap="square">
            <a:spAutoFit/>
          </a:bodyPr>
          <a:lstStyle/>
          <a:p>
            <a:r>
              <a:rPr lang="en-IN" dirty="0">
                <a:latin typeface="IBM Plex Mono" panose="020B0509050203000203" pitchFamily="49" charset="0"/>
              </a:rPr>
              <a:t>Frontend &amp; Backend Development</a:t>
            </a:r>
          </a:p>
        </p:txBody>
      </p:sp>
      <p:sp>
        <p:nvSpPr>
          <p:cNvPr id="928" name="TextBox 927">
            <a:extLst>
              <a:ext uri="{FF2B5EF4-FFF2-40B4-BE49-F238E27FC236}">
                <a16:creationId xmlns:a16="http://schemas.microsoft.com/office/drawing/2014/main" id="{ACD0C860-715A-366D-E953-85B861F40E91}"/>
              </a:ext>
            </a:extLst>
          </p:cNvPr>
          <p:cNvSpPr txBox="1"/>
          <p:nvPr/>
        </p:nvSpPr>
        <p:spPr>
          <a:xfrm>
            <a:off x="3538367" y="4440090"/>
            <a:ext cx="6059791" cy="307777"/>
          </a:xfrm>
          <a:prstGeom prst="rect">
            <a:avLst/>
          </a:prstGeom>
          <a:noFill/>
        </p:spPr>
        <p:txBody>
          <a:bodyPr wrap="square">
            <a:spAutoFit/>
          </a:bodyPr>
          <a:lstStyle/>
          <a:p>
            <a:r>
              <a:rPr lang="en-IN" dirty="0">
                <a:latin typeface="IBM Plex Mono" panose="020B0509050203000203" pitchFamily="49" charset="0"/>
              </a:rPr>
              <a:t>Testing, Evaluation &amp; Documentation</a:t>
            </a:r>
          </a:p>
        </p:txBody>
      </p:sp>
      <p:pic>
        <p:nvPicPr>
          <p:cNvPr id="3" name="Picture 2" descr="MAPS &amp; DIRECTIONS - Best Private University in Telangana ...">
            <a:extLst>
              <a:ext uri="{FF2B5EF4-FFF2-40B4-BE49-F238E27FC236}">
                <a16:creationId xmlns:a16="http://schemas.microsoft.com/office/drawing/2014/main" id="{BDC1DC06-9A5C-158E-BF10-C5ABAB56C2FE}"/>
              </a:ext>
            </a:extLst>
          </p:cNvPr>
          <p:cNvPicPr>
            <a:picLocks noChangeAspect="1"/>
          </p:cNvPicPr>
          <p:nvPr/>
        </p:nvPicPr>
        <p:blipFill>
          <a:blip r:embed="rId3"/>
          <a:stretch>
            <a:fillRect/>
          </a:stretch>
        </p:blipFill>
        <p:spPr>
          <a:xfrm>
            <a:off x="7666920" y="4151003"/>
            <a:ext cx="1013551" cy="7533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618964FA-CBEE-5DA6-DB23-C5B5E64E07AB}"/>
            </a:ext>
          </a:extLst>
        </p:cNvPr>
        <p:cNvGrpSpPr/>
        <p:nvPr/>
      </p:nvGrpSpPr>
      <p:grpSpPr>
        <a:xfrm>
          <a:off x="0" y="0"/>
          <a:ext cx="0" cy="0"/>
          <a:chOff x="0" y="0"/>
          <a:chExt cx="0" cy="0"/>
        </a:xfrm>
      </p:grpSpPr>
      <p:grpSp>
        <p:nvGrpSpPr>
          <p:cNvPr id="529" name="Google Shape;529;p51">
            <a:extLst>
              <a:ext uri="{FF2B5EF4-FFF2-40B4-BE49-F238E27FC236}">
                <a16:creationId xmlns:a16="http://schemas.microsoft.com/office/drawing/2014/main" id="{9AFDC5CB-DE6C-34DC-2FAE-8DC3B0139FF9}"/>
              </a:ext>
            </a:extLst>
          </p:cNvPr>
          <p:cNvGrpSpPr/>
          <p:nvPr/>
        </p:nvGrpSpPr>
        <p:grpSpPr>
          <a:xfrm>
            <a:off x="870025" y="401112"/>
            <a:ext cx="7404024" cy="4341275"/>
            <a:chOff x="870025" y="401112"/>
            <a:chExt cx="7404024" cy="4341275"/>
          </a:xfrm>
        </p:grpSpPr>
        <p:pic>
          <p:nvPicPr>
            <p:cNvPr id="530" name="Google Shape;530;p51">
              <a:extLst>
                <a:ext uri="{FF2B5EF4-FFF2-40B4-BE49-F238E27FC236}">
                  <a16:creationId xmlns:a16="http://schemas.microsoft.com/office/drawing/2014/main" id="{F530CB7D-2F83-041E-9733-767275851573}"/>
                </a:ext>
              </a:extLst>
            </p:cNvPr>
            <p:cNvPicPr preferRelativeResize="0"/>
            <p:nvPr/>
          </p:nvPicPr>
          <p:blipFill rotWithShape="1">
            <a:blip r:embed="rId3">
              <a:alphaModFix amt="92000"/>
            </a:blip>
            <a:srcRect t="1320" b="-1320"/>
            <a:stretch/>
          </p:blipFill>
          <p:spPr>
            <a:xfrm>
              <a:off x="870025" y="401112"/>
              <a:ext cx="7404024" cy="4341275"/>
            </a:xfrm>
            <a:prstGeom prst="rect">
              <a:avLst/>
            </a:prstGeom>
            <a:noFill/>
            <a:ln>
              <a:noFill/>
            </a:ln>
          </p:spPr>
        </p:pic>
        <p:pic>
          <p:nvPicPr>
            <p:cNvPr id="531" name="Google Shape;531;p51">
              <a:extLst>
                <a:ext uri="{FF2B5EF4-FFF2-40B4-BE49-F238E27FC236}">
                  <a16:creationId xmlns:a16="http://schemas.microsoft.com/office/drawing/2014/main" id="{DD120C84-E597-5C4D-6E03-01AD2E84B5C4}"/>
                </a:ext>
              </a:extLst>
            </p:cNvPr>
            <p:cNvPicPr preferRelativeResize="0"/>
            <p:nvPr/>
          </p:nvPicPr>
          <p:blipFill>
            <a:blip r:embed="rId4">
              <a:alphaModFix/>
            </a:blip>
            <a:stretch>
              <a:fillRect/>
            </a:stretch>
          </p:blipFill>
          <p:spPr>
            <a:xfrm>
              <a:off x="3338164" y="539509"/>
              <a:ext cx="2467774" cy="462933"/>
            </a:xfrm>
            <a:prstGeom prst="rect">
              <a:avLst/>
            </a:prstGeom>
            <a:noFill/>
            <a:ln>
              <a:noFill/>
            </a:ln>
          </p:spPr>
        </p:pic>
        <p:pic>
          <p:nvPicPr>
            <p:cNvPr id="532" name="Google Shape;532;p51">
              <a:extLst>
                <a:ext uri="{FF2B5EF4-FFF2-40B4-BE49-F238E27FC236}">
                  <a16:creationId xmlns:a16="http://schemas.microsoft.com/office/drawing/2014/main" id="{1D25D941-AA2B-D7BC-8B33-2E8118AF9AEB}"/>
                </a:ext>
              </a:extLst>
            </p:cNvPr>
            <p:cNvPicPr preferRelativeResize="0"/>
            <p:nvPr/>
          </p:nvPicPr>
          <p:blipFill>
            <a:blip r:embed="rId4">
              <a:alphaModFix/>
            </a:blip>
            <a:stretch>
              <a:fillRect/>
            </a:stretch>
          </p:blipFill>
          <p:spPr>
            <a:xfrm rot="10800000" flipH="1">
              <a:off x="3338164" y="4141059"/>
              <a:ext cx="2467774" cy="462933"/>
            </a:xfrm>
            <a:prstGeom prst="rect">
              <a:avLst/>
            </a:prstGeom>
            <a:noFill/>
            <a:ln>
              <a:noFill/>
            </a:ln>
          </p:spPr>
        </p:pic>
      </p:grpSp>
      <p:sp>
        <p:nvSpPr>
          <p:cNvPr id="533" name="Google Shape;533;p51">
            <a:extLst>
              <a:ext uri="{FF2B5EF4-FFF2-40B4-BE49-F238E27FC236}">
                <a16:creationId xmlns:a16="http://schemas.microsoft.com/office/drawing/2014/main" id="{8A7C7333-B459-4128-1DB5-FD756B8CEC7E}"/>
              </a:ext>
            </a:extLst>
          </p:cNvPr>
          <p:cNvSpPr txBox="1">
            <a:spLocks noGrp="1"/>
          </p:cNvSpPr>
          <p:nvPr>
            <p:ph type="title"/>
          </p:nvPr>
        </p:nvSpPr>
        <p:spPr>
          <a:xfrm>
            <a:off x="2298600" y="1619250"/>
            <a:ext cx="4546800" cy="1849500"/>
          </a:xfrm>
          <a:prstGeom prst="rect">
            <a:avLst/>
          </a:prstGeom>
        </p:spPr>
        <p:txBody>
          <a:bodyPr spcFirstLastPara="1" wrap="square" lIns="91425" tIns="91425" rIns="91425" bIns="91425" anchor="ctr" anchorCtr="0">
            <a:noAutofit/>
          </a:bodyPr>
          <a:lstStyle/>
          <a:p>
            <a:pPr lvl="0"/>
            <a:r>
              <a:rPr lang="en-IN" dirty="0">
                <a:solidFill>
                  <a:schemeClr val="tx1"/>
                </a:solidFill>
              </a:rPr>
              <a:t>Project</a:t>
            </a:r>
            <a:r>
              <a:rPr lang="en-IN" dirty="0"/>
              <a:t> Workflow</a:t>
            </a:r>
            <a:endParaRPr dirty="0">
              <a:solidFill>
                <a:schemeClr val="dk1"/>
              </a:solidFill>
            </a:endParaRPr>
          </a:p>
        </p:txBody>
      </p:sp>
      <p:pic>
        <p:nvPicPr>
          <p:cNvPr id="3" name="Picture 2" descr="MAPS &amp; DIRECTIONS - Best Private University in Telangana ...">
            <a:extLst>
              <a:ext uri="{FF2B5EF4-FFF2-40B4-BE49-F238E27FC236}">
                <a16:creationId xmlns:a16="http://schemas.microsoft.com/office/drawing/2014/main" id="{362E0F56-C566-4561-4A47-6D155DA20EAB}"/>
              </a:ext>
            </a:extLst>
          </p:cNvPr>
          <p:cNvPicPr>
            <a:picLocks noChangeAspect="1"/>
          </p:cNvPicPr>
          <p:nvPr/>
        </p:nvPicPr>
        <p:blipFill>
          <a:blip r:embed="rId5"/>
          <a:stretch>
            <a:fillRect/>
          </a:stretch>
        </p:blipFill>
        <p:spPr>
          <a:xfrm>
            <a:off x="7666920" y="4151003"/>
            <a:ext cx="1013551" cy="753356"/>
          </a:xfrm>
          <a:prstGeom prst="rect">
            <a:avLst/>
          </a:prstGeom>
        </p:spPr>
      </p:pic>
    </p:spTree>
    <p:extLst>
      <p:ext uri="{BB962C8B-B14F-4D97-AF65-F5344CB8AC3E}">
        <p14:creationId xmlns:p14="http://schemas.microsoft.com/office/powerpoint/2010/main" val="3601414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5">
          <a:extLst>
            <a:ext uri="{FF2B5EF4-FFF2-40B4-BE49-F238E27FC236}">
              <a16:creationId xmlns:a16="http://schemas.microsoft.com/office/drawing/2014/main" id="{2BCCC1EC-5FA0-79FC-D534-84AE565862A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56F6989-0580-8C3A-9ADC-95A03DD3A322}"/>
              </a:ext>
            </a:extLst>
          </p:cNvPr>
          <p:cNvPicPr>
            <a:picLocks noChangeAspect="1"/>
          </p:cNvPicPr>
          <p:nvPr/>
        </p:nvPicPr>
        <p:blipFill>
          <a:blip r:embed="rId3"/>
          <a:stretch>
            <a:fillRect/>
          </a:stretch>
        </p:blipFill>
        <p:spPr>
          <a:xfrm>
            <a:off x="3154565" y="152400"/>
            <a:ext cx="2578926" cy="4835912"/>
          </a:xfrm>
          <a:prstGeom prst="rect">
            <a:avLst/>
          </a:prstGeom>
        </p:spPr>
      </p:pic>
      <p:pic>
        <p:nvPicPr>
          <p:cNvPr id="8" name="Picture 7" descr="MAPS &amp; DIRECTIONS - Best Private University in Telangana ...">
            <a:extLst>
              <a:ext uri="{FF2B5EF4-FFF2-40B4-BE49-F238E27FC236}">
                <a16:creationId xmlns:a16="http://schemas.microsoft.com/office/drawing/2014/main" id="{9E180D7B-A758-5CEA-201C-5375CBAFA5A5}"/>
              </a:ext>
            </a:extLst>
          </p:cNvPr>
          <p:cNvPicPr>
            <a:picLocks noChangeAspect="1"/>
          </p:cNvPicPr>
          <p:nvPr/>
        </p:nvPicPr>
        <p:blipFill>
          <a:blip r:embed="rId4"/>
          <a:stretch>
            <a:fillRect/>
          </a:stretch>
        </p:blipFill>
        <p:spPr>
          <a:xfrm>
            <a:off x="7666920" y="4151003"/>
            <a:ext cx="1013551" cy="753356"/>
          </a:xfrm>
          <a:prstGeom prst="rect">
            <a:avLst/>
          </a:prstGeom>
        </p:spPr>
      </p:pic>
    </p:spTree>
    <p:extLst>
      <p:ext uri="{BB962C8B-B14F-4D97-AF65-F5344CB8AC3E}">
        <p14:creationId xmlns:p14="http://schemas.microsoft.com/office/powerpoint/2010/main" val="1751167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3"/>
          <p:cNvSpPr txBox="1">
            <a:spLocks noGrp="1"/>
          </p:cNvSpPr>
          <p:nvPr>
            <p:ph type="title"/>
          </p:nvPr>
        </p:nvSpPr>
        <p:spPr>
          <a:xfrm>
            <a:off x="1284336" y="1191442"/>
            <a:ext cx="6265035" cy="150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 dirty="0"/>
              <a:t>THANKYOU!</a:t>
            </a:r>
            <a:endParaRPr dirty="0"/>
          </a:p>
        </p:txBody>
      </p:sp>
      <p:sp>
        <p:nvSpPr>
          <p:cNvPr id="426" name="Google Shape;426;p43"/>
          <p:cNvSpPr txBox="1">
            <a:spLocks noGrp="1"/>
          </p:cNvSpPr>
          <p:nvPr>
            <p:ph type="subTitle" idx="1"/>
          </p:nvPr>
        </p:nvSpPr>
        <p:spPr>
          <a:xfrm>
            <a:off x="1846268" y="2715124"/>
            <a:ext cx="4872900" cy="67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000" b="1" dirty="0"/>
              <a:t>Presented By:</a:t>
            </a:r>
          </a:p>
          <a:p>
            <a:pPr marL="0" lvl="0" indent="0" algn="ctr" rtl="0">
              <a:spcBef>
                <a:spcPts val="0"/>
              </a:spcBef>
              <a:spcAft>
                <a:spcPts val="0"/>
              </a:spcAft>
              <a:buNone/>
            </a:pPr>
            <a:r>
              <a:rPr lang="de" dirty="0"/>
              <a:t>Agastya Singh</a:t>
            </a:r>
          </a:p>
          <a:p>
            <a:pPr marL="0" lvl="0" indent="0" algn="ctr" rtl="0">
              <a:spcBef>
                <a:spcPts val="0"/>
              </a:spcBef>
              <a:spcAft>
                <a:spcPts val="0"/>
              </a:spcAft>
              <a:buNone/>
            </a:pPr>
            <a:r>
              <a:rPr lang="de" dirty="0"/>
              <a:t>Sanchay Krishna G</a:t>
            </a:r>
          </a:p>
          <a:p>
            <a:pPr marL="0" lvl="0" indent="0" algn="ctr" rtl="0">
              <a:spcBef>
                <a:spcPts val="0"/>
              </a:spcBef>
              <a:spcAft>
                <a:spcPts val="0"/>
              </a:spcAft>
              <a:buNone/>
            </a:pPr>
            <a:r>
              <a:rPr lang="de" dirty="0"/>
              <a:t>Challa Saketh Kumar</a:t>
            </a:r>
          </a:p>
          <a:p>
            <a:pPr marL="0" lvl="0" indent="0" algn="ctr" rtl="0">
              <a:spcBef>
                <a:spcPts val="0"/>
              </a:spcBef>
              <a:spcAft>
                <a:spcPts val="0"/>
              </a:spcAft>
              <a:buNone/>
            </a:pPr>
            <a:r>
              <a:rPr lang="de" dirty="0"/>
              <a:t>M Hariharan</a:t>
            </a:r>
            <a:endParaRPr dirty="0"/>
          </a:p>
        </p:txBody>
      </p:sp>
      <p:grpSp>
        <p:nvGrpSpPr>
          <p:cNvPr id="427" name="Google Shape;427;p43"/>
          <p:cNvGrpSpPr/>
          <p:nvPr/>
        </p:nvGrpSpPr>
        <p:grpSpPr>
          <a:xfrm>
            <a:off x="-9533" y="-7"/>
            <a:ext cx="2400327" cy="4724750"/>
            <a:chOff x="177793" y="152400"/>
            <a:chExt cx="2292357" cy="4512224"/>
          </a:xfrm>
        </p:grpSpPr>
        <p:pic>
          <p:nvPicPr>
            <p:cNvPr id="428" name="Google Shape;428;p43"/>
            <p:cNvPicPr preferRelativeResize="0"/>
            <p:nvPr/>
          </p:nvPicPr>
          <p:blipFill>
            <a:blip r:embed="rId3">
              <a:alphaModFix/>
            </a:blip>
            <a:stretch>
              <a:fillRect/>
            </a:stretch>
          </p:blipFill>
          <p:spPr>
            <a:xfrm rot="5400000">
              <a:off x="-668274" y="3042918"/>
              <a:ext cx="2467773" cy="775639"/>
            </a:xfrm>
            <a:prstGeom prst="rect">
              <a:avLst/>
            </a:prstGeom>
            <a:noFill/>
            <a:ln>
              <a:noFill/>
            </a:ln>
          </p:spPr>
        </p:pic>
        <p:pic>
          <p:nvPicPr>
            <p:cNvPr id="429" name="Google Shape;429;p43"/>
            <p:cNvPicPr preferRelativeResize="0"/>
            <p:nvPr/>
          </p:nvPicPr>
          <p:blipFill rotWithShape="1">
            <a:blip r:embed="rId4">
              <a:alphaModFix/>
            </a:blip>
            <a:srcRect l="50000" b="6183"/>
            <a:stretch/>
          </p:blipFill>
          <p:spPr>
            <a:xfrm rot="5400000">
              <a:off x="109262" y="220938"/>
              <a:ext cx="2429426" cy="2292350"/>
            </a:xfrm>
            <a:prstGeom prst="rect">
              <a:avLst/>
            </a:prstGeom>
            <a:noFill/>
            <a:ln>
              <a:noFill/>
            </a:ln>
          </p:spPr>
        </p:pic>
      </p:grpSp>
      <p:grpSp>
        <p:nvGrpSpPr>
          <p:cNvPr id="430" name="Google Shape;430;p43"/>
          <p:cNvGrpSpPr/>
          <p:nvPr/>
        </p:nvGrpSpPr>
        <p:grpSpPr>
          <a:xfrm>
            <a:off x="6528101" y="407029"/>
            <a:ext cx="2854722" cy="5057501"/>
            <a:chOff x="6456869" y="482600"/>
            <a:chExt cx="2726313" cy="4830008"/>
          </a:xfrm>
        </p:grpSpPr>
        <p:grpSp>
          <p:nvGrpSpPr>
            <p:cNvPr id="431" name="Google Shape;431;p43"/>
            <p:cNvGrpSpPr/>
            <p:nvPr/>
          </p:nvGrpSpPr>
          <p:grpSpPr>
            <a:xfrm>
              <a:off x="6673843" y="482600"/>
              <a:ext cx="2292357" cy="4512224"/>
              <a:chOff x="6667493" y="482600"/>
              <a:chExt cx="2292357" cy="4512224"/>
            </a:xfrm>
          </p:grpSpPr>
          <p:pic>
            <p:nvPicPr>
              <p:cNvPr id="432" name="Google Shape;432;p43"/>
              <p:cNvPicPr preferRelativeResize="0"/>
              <p:nvPr/>
            </p:nvPicPr>
            <p:blipFill>
              <a:blip r:embed="rId3">
                <a:alphaModFix/>
              </a:blip>
              <a:stretch>
                <a:fillRect/>
              </a:stretch>
            </p:blipFill>
            <p:spPr>
              <a:xfrm rot="-5400000">
                <a:off x="7338144" y="1328667"/>
                <a:ext cx="2467773" cy="775639"/>
              </a:xfrm>
              <a:prstGeom prst="rect">
                <a:avLst/>
              </a:prstGeom>
              <a:noFill/>
              <a:ln>
                <a:noFill/>
              </a:ln>
            </p:spPr>
          </p:pic>
          <p:pic>
            <p:nvPicPr>
              <p:cNvPr id="433" name="Google Shape;433;p43"/>
              <p:cNvPicPr preferRelativeResize="0"/>
              <p:nvPr/>
            </p:nvPicPr>
            <p:blipFill rotWithShape="1">
              <a:blip r:embed="rId4">
                <a:alphaModFix/>
              </a:blip>
              <a:srcRect l="50000" b="6183"/>
              <a:stretch/>
            </p:blipFill>
            <p:spPr>
              <a:xfrm rot="-5400000">
                <a:off x="6598955" y="2633936"/>
                <a:ext cx="2429426" cy="2292350"/>
              </a:xfrm>
              <a:prstGeom prst="rect">
                <a:avLst/>
              </a:prstGeom>
              <a:noFill/>
              <a:ln>
                <a:noFill/>
              </a:ln>
            </p:spPr>
          </p:pic>
        </p:grpSp>
        <p:pic>
          <p:nvPicPr>
            <p:cNvPr id="434" name="Google Shape;434;p43"/>
            <p:cNvPicPr preferRelativeResize="0"/>
            <p:nvPr/>
          </p:nvPicPr>
          <p:blipFill>
            <a:blip r:embed="rId5">
              <a:alphaModFix/>
            </a:blip>
            <a:stretch>
              <a:fillRect/>
            </a:stretch>
          </p:blipFill>
          <p:spPr>
            <a:xfrm rot="-2700000">
              <a:off x="6586139" y="3255544"/>
              <a:ext cx="2467772" cy="1387816"/>
            </a:xfrm>
            <a:prstGeom prst="rect">
              <a:avLst/>
            </a:prstGeom>
            <a:noFill/>
            <a:ln>
              <a:noFill/>
            </a:ln>
          </p:spPr>
        </p:pic>
      </p:grpSp>
      <p:pic>
        <p:nvPicPr>
          <p:cNvPr id="3" name="Picture 2" descr="MAPS &amp; DIRECTIONS - Best Private University in Telangana ...">
            <a:extLst>
              <a:ext uri="{FF2B5EF4-FFF2-40B4-BE49-F238E27FC236}">
                <a16:creationId xmlns:a16="http://schemas.microsoft.com/office/drawing/2014/main" id="{CAF0B95B-DB1A-EACD-AE0D-16F4A7739E5B}"/>
              </a:ext>
            </a:extLst>
          </p:cNvPr>
          <p:cNvPicPr>
            <a:picLocks noChangeAspect="1"/>
          </p:cNvPicPr>
          <p:nvPr/>
        </p:nvPicPr>
        <p:blipFill>
          <a:blip r:embed="rId6"/>
          <a:stretch>
            <a:fillRect/>
          </a:stretch>
        </p:blipFill>
        <p:spPr>
          <a:xfrm>
            <a:off x="7533105" y="-188201"/>
            <a:ext cx="1392989" cy="1035386"/>
          </a:xfrm>
          <a:prstGeom prst="rect">
            <a:avLst/>
          </a:prstGeom>
        </p:spPr>
      </p:pic>
    </p:spTree>
  </p:cSld>
  <p:clrMapOvr>
    <a:masterClrMapping/>
  </p:clrMapOvr>
</p:sld>
</file>

<file path=ppt/theme/theme1.xml><?xml version="1.0" encoding="utf-8"?>
<a:theme xmlns:a="http://schemas.openxmlformats.org/drawingml/2006/main" name="Bachelor in Robotics Engineering by Slidesgo">
  <a:themeElements>
    <a:clrScheme name="Simple Light">
      <a:dk1>
        <a:srgbClr val="1F164D"/>
      </a:dk1>
      <a:lt1>
        <a:srgbClr val="F9F9F9"/>
      </a:lt1>
      <a:dk2>
        <a:srgbClr val="E8E8E8"/>
      </a:dk2>
      <a:lt2>
        <a:srgbClr val="C1C1C1"/>
      </a:lt2>
      <a:accent1>
        <a:srgbClr val="6F79E3"/>
      </a:accent1>
      <a:accent2>
        <a:srgbClr val="433ABA"/>
      </a:accent2>
      <a:accent3>
        <a:srgbClr val="130994"/>
      </a:accent3>
      <a:accent4>
        <a:srgbClr val="FFFFFF"/>
      </a:accent4>
      <a:accent5>
        <a:srgbClr val="FFFFFF"/>
      </a:accent5>
      <a:accent6>
        <a:srgbClr val="FFFFFF"/>
      </a:accent6>
      <a:hlink>
        <a:srgbClr val="1F16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1666</Words>
  <Application>Microsoft Office PowerPoint</Application>
  <PresentationFormat>On-screen Show (16:9)</PresentationFormat>
  <Paragraphs>224</Paragraphs>
  <Slides>20</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Wingdings</vt:lpstr>
      <vt:lpstr>IBM Plex Mono</vt:lpstr>
      <vt:lpstr>Arial</vt:lpstr>
      <vt:lpstr>Archivo</vt:lpstr>
      <vt:lpstr>Aptos</vt:lpstr>
      <vt:lpstr>Symbol</vt:lpstr>
      <vt:lpstr>Nunito Light</vt:lpstr>
      <vt:lpstr>Mangal</vt:lpstr>
      <vt:lpstr>Bachelor in Robotics Engineering by Slidesgo</vt:lpstr>
      <vt:lpstr>Adaptive Hybrid RAG Framework for Context-Aware Document Intelligence</vt:lpstr>
      <vt:lpstr>Problem Statement?</vt:lpstr>
      <vt:lpstr>Objectives</vt:lpstr>
      <vt:lpstr>Literature Survey</vt:lpstr>
      <vt:lpstr>Literature Survey</vt:lpstr>
      <vt:lpstr>Research Gap Identification</vt:lpstr>
      <vt:lpstr>Research Gap Identification</vt:lpstr>
      <vt:lpstr>Existing System Analysis (Case Study)</vt:lpstr>
      <vt:lpstr>PowerPoint Presentation</vt:lpstr>
      <vt:lpstr>Research Gap Identification</vt:lpstr>
      <vt:lpstr>Innovation</vt:lpstr>
      <vt:lpstr>Creativity</vt:lpstr>
      <vt:lpstr>Novelty</vt:lpstr>
      <vt:lpstr>Feasibility</vt:lpstr>
      <vt:lpstr>Feasibility</vt:lpstr>
      <vt:lpstr>Project Plan</vt:lpstr>
      <vt:lpstr>PowerPoint Presentation</vt:lpstr>
      <vt:lpstr>Project Workflow</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Agastya Singh</cp:lastModifiedBy>
  <cp:revision>13</cp:revision>
  <dcterms:modified xsi:type="dcterms:W3CDTF">2026-08-15T07:48:32Z</dcterms:modified>
</cp:coreProperties>
</file>